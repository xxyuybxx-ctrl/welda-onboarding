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9" r:id="rId3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326" r:id="rId40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7.xml"/><Relationship Id="rId4" Type="http://schemas.openxmlformats.org/officeDocument/2006/relationships/slide" Target="slides/slide3.xml"/><Relationship Id="rId5" Type="http://schemas.openxmlformats.org/officeDocument/2006/relationships/slide" Target="slides/slide12.xml"/><Relationship Id="rId6" Type="http://schemas.openxmlformats.org/officeDocument/2006/relationships/slide" Target="slides/slide1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20" Type="http://schemas.openxmlformats.org/officeDocument/2006/relationships/slide" Target="slides/slide23.xml"/><Relationship Id="rId24" Type="http://schemas.openxmlformats.org/officeDocument/2006/relationships/slide" Target="slides/slide6.xml"/><Relationship Id="rId28" Type="http://schemas.openxmlformats.org/officeDocument/2006/relationships/slide" Target="slides/slide9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7.xml"/><Relationship Id="rId35" Type="http://schemas.openxmlformats.org/officeDocument/2006/relationships/slide" Target="slides/slide36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59302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516502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16502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절차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16502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오늘 정해 주실 세 가지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070" y="4251960"/>
            <a:ext cx="2355311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286" y="4253015"/>
            <a:ext cx="6492240" cy="48442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보건소에서 시작된 웰다, 다음은 의원 · 병원입니다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보건소 검사에서 당뇨 전단계로 확인된 서울시민이 웰다로 혈당관리를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788566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대사증후군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8566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공복혈당 100~125mg/dL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4272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0072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45832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손목닥터9988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5832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9월 9일부터 선착순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51538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537338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903098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 키트 배송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03098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9월 29일부터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08804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94604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460364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4  </a:t>
            </a: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착용 · 교육 · 상담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60364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10월부터 순차 시작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2806" y="12938760"/>
            <a:ext cx="215432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내용 출처: 서울시 '내 손안에 서울'(2026.8). 세부 일정 · 조건은 서울시 공식 안내 기준</a:t>
            </a:r>
          </a:p>
        </p:txBody>
      </p:sp>
      <p:sp>
        <p:nvSpPr>
          <p:cNvPr id="3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5257800"/>
            <a:ext cx="21543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서울시 사업과 의원 · 병원, 같은 프로그램입니다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22806" y="5897880"/>
            <a:ext cx="3255264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678070" y="5897880"/>
            <a:ext cx="9144000" cy="731520"/>
          </a:xfrm>
          <a:prstGeom prst="rect">
            <a:avLst/>
          </a:prstGeom>
          <a:solidFill>
            <a:srgbClr val="EE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678070" y="58978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서울시 혈당캐치9988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822070" y="5897880"/>
            <a:ext cx="9144000" cy="731520"/>
          </a:xfrm>
          <a:prstGeom prst="rect">
            <a:avLst/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3822070" y="58978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 · 병원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22806" y="662940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742846" y="662940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78070" y="662940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998110" y="662940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검사 당뇨 전단계 시민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공복혈당 100~125mg/dL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822070" y="662940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4142110" y="662940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확인된 당뇨 전단계 환자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같은 기준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22806" y="813816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742846" y="813816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인원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78070" y="813816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998110" y="813816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선착순 1,000명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822070" y="813816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4142110" y="813816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제한 없음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22806" y="964692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742846" y="964692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78070" y="964692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998110" y="964692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 (연속혈당측정기 + 앱)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22070" y="964692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4142110" y="964692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웰다, 동일 프로그램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22806" y="1115568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742846" y="1115568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교육 · 상담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78070" y="1115568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998110" y="1115568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연계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22070" y="1115568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4142110" y="1115568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진료실에서 원장님 · 간호사가 직접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92277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73075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343400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276088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769864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76986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57784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61904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7123176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76169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7616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7424927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8037575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970264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9464040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946404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927201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988466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10863072"/>
            <a:ext cx="7767885" cy="1984247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655385" y="10863072"/>
            <a:ext cx="6853485" cy="1984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할 일은 BD 건네기 하나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30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3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8138160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8138160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8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8138160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7498079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7498079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7498079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656" y="5349240"/>
            <a:ext cx="3771067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886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 · 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5886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 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974" y="5826504"/>
            <a:ext cx="5900927" cy="27945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134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 · 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4134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방향인지, 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136" y="5349240"/>
            <a:ext cx="4639099" cy="37490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42382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 · 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2382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 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Overview탭 하단, [연속 혈당 지표 그래프]에서 하루 단위의 </a:t>
            </a:r>
            <a:r>
              <a:rPr sz="2400" b="1">
                <a:solidFill>
                  <a:srgbClr val="4B4F7A"/>
                </a:solidFill>
                <a:latin typeface="Pretendard"/>
                <a:ea typeface="Pretendard"/>
                <a:cs typeface="Pretendard"/>
              </a:rPr>
              <a:t>혈당 점수, 평균 혈당, 혈당 변동성 추이</a:t>
            </a: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를 확인할 수 있습니다.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수치의 추이를 보며 긍정적으로 변화하고 있는지, 개선이 필요할지 피드백해주세요.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0" y="4956048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점수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는 스파이크의 상승 폭과 지속 시간을 바탕으로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하루 혈당 변화를 평가하는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점수가 높을수록 혈당이 안정적으로 관리된 하루를 의미합니다.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0" y="7498079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변동성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하루 동안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수치가 얼마나 급격하게 변하는지를 나타내는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평균 혈당을 중심으로 개별 혈당 값들이 얼마나 넓게 퍼져 있는지를 수치화한 것입니다.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007607"/>
            <a:ext cx="694944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식곤증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60076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잦은 허기짐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81960" y="6007607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636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만성 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7379208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0060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부종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7379208"/>
            <a:ext cx="694944" cy="6949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9848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피부 염증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1960" y="7379208"/>
            <a:ext cx="694944" cy="6949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59636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수면 부족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8750808"/>
            <a:ext cx="694944" cy="6949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우울 &amp; 불안감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8750808"/>
            <a:ext cx="694944" cy="6949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69848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생리불순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108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0896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연속혈당측정기 APP 화면에 저혈당이라고 나타났는데 괜찮나요?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65760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6464" y="480060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26464" y="50749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운동하고 혈당이 올랐어요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59"/>
            <a:ext cx="21031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6464" y="6272783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6464" y="6547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547103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혈당 스파이크가 나타나지 않으면 무엇이든 먹어도 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095743"/>
            <a:ext cx="2103120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없다고 해서 무엇이든 먹어도 되는 건 절대 아닙니다. 혈당 스파이크가 없다는 것은 혈당 상승이 상대적으로 크지 않다는 뜻이지 음식이 건강하다는 보증서는 아니에요. 특히 술이나 지방+정제 탄수화물 조합의 초가공식품은 혈당은 크게 오르지 않더라도 인슐린 분비를 자극하기 때문에 대사 건강에는 문제가 될 수 있어요. 혈당 그래프를 통해 전반적인 관리의 방향성을 잡아보실 수 있지만, 그래도 건강을 위해 주의해야 하는 음식이 있다는 점을 기억해주세요.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26464" y="8732519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26464" y="9006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00684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작동이 안돼요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연속혈당측정기 APP에서 어떤 메시지가 뜨는지 확인해주세요. 나타나는 메시지에 따라 [연속혈당측정기 APP에서 오류 알림이 나타나면 어떻게 해야하나요?]에 대한 답변을 참고해주세요. 만약 오류 메시지가 지속적으로 해결되지 않거나, 문제를 정확히 알 수 없는 경우라면 웰다 채널톡으로 문의해주세요.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26464" y="1069848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26464" y="10972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1097280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떨어졌어요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1152144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제거되었거나 떨어진 센서는 재사용할 수 없어요. 부착 시 접착테이프가 단단히 고정될 수 있도록 충분히 건조 후 부착하고, 일상생활에서 물기와 외부 충격에 주의해 주세요. TIP. 웰다 센서 패치를 사용하면 더 안전하게 고정할 수 있어요!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4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마무리 · 도입 절차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