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26" r:id="rId40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11.xml"/><Relationship Id="rId6" Type="http://schemas.openxmlformats.org/officeDocument/2006/relationships/slide" Target="slides/slide1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20" Type="http://schemas.openxmlformats.org/officeDocument/2006/relationships/slide" Target="slides/slide23.xml"/><Relationship Id="rId24" Type="http://schemas.openxmlformats.org/officeDocument/2006/relationships/slide" Target="slides/slide6.xml"/><Relationship Id="rId28" Type="http://schemas.openxmlformats.org/officeDocument/2006/relationships/slide" Target="slides/slide8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7.xml"/><Relationship Id="rId35" Type="http://schemas.openxmlformats.org/officeDocument/2006/relationships/slide" Target="slides/slide36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16.xml"/><Relationship Id="rId41" Type="http://schemas.openxmlformats.org/officeDocument/2006/relationships/slide" Target="slides/slide42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55.png"/><Relationship Id="rId6" Type="http://schemas.openxmlformats.org/officeDocument/2006/relationships/image" Target="../media/image8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6E6E78"/>
                </a:solidFill>
                <a:latin typeface="Pretendard Medium"/>
                <a:ea typeface="Pretendard Medium"/>
                <a:cs typeface="Pretendard Medium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내원 주기 · 센서 부착 경로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도입 6단계 · 오늘 정할 세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· 자주 묻는 질문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962" y="4251960"/>
            <a:ext cx="218084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944" y="4251960"/>
            <a:ext cx="649224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3F4785"/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환자가 앱에 식사</a:t>
            </a:r>
            <a:r>
              <a:rPr lang="en-US" altLang="ko-KR" sz="3200" dirty="0">
                <a:solidFill>
                  <a:srgbClr val="3F4785"/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·</a:t>
            </a:r>
            <a:r>
              <a:rPr lang="ko-KR" altLang="en-US" sz="3200" dirty="0">
                <a:solidFill>
                  <a:srgbClr val="3F4785"/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운동을 기록하면</a:t>
            </a:r>
            <a:r>
              <a:rPr lang="en-US" altLang="ko-KR" sz="3200" dirty="0">
                <a:solidFill>
                  <a:srgbClr val="3F4785"/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3F4785"/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진료실 </a:t>
            </a:r>
            <a:r>
              <a:rPr lang="en-US" altLang="ko-KR" sz="3200" dirty="0">
                <a:solidFill>
                  <a:srgbClr val="3F4785"/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PC</a:t>
            </a:r>
            <a:r>
              <a:rPr lang="ko-KR" altLang="en-US" sz="3200" dirty="0">
                <a:solidFill>
                  <a:srgbClr val="3F4785"/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3200" dirty="0">
                <a:solidFill>
                  <a:srgbClr val="3F4785"/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010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7955279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38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6012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38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2014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1556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38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813048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81304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64845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21538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001768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38581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38581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221224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5788152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6574536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6958583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6958583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679399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7360919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147304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85313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85313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836676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89336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9829800"/>
            <a:ext cx="7767885" cy="3017520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= 의원 파트너 코드가 인쇄되는 자리.  웰다 BD 인쇄 페이지에서 코드만 입력하면 A4 양면으로 바로 출력됩니다.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681959" y="10104120"/>
            <a:ext cx="69494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800" b="0">
                <a:solidFill>
                  <a:srgbClr val="D9D3FF"/>
                </a:solidFill>
                <a:latin typeface="Pretendard Medium"/>
                <a:ea typeface="Pretendard Medium"/>
                <a:cs typeface="Pretendard Medium"/>
              </a:rPr>
              <a:t>의원이 할 일은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6000" b="1">
                <a:solidFill>
                  <a:srgbClr val="FFD84D"/>
                </a:solidFill>
                <a:latin typeface="Pretendard"/>
                <a:ea typeface="Pretendard"/>
                <a:cs typeface="Pretendard"/>
              </a:rPr>
              <a:t>BD 건네기</a:t>
            </a: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하나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2200" b="0">
                <a:solidFill>
                  <a:srgbClr val="D9D3FF"/>
                </a:solidFill>
                <a:latin typeface="Pretendard Medium"/>
                <a:ea typeface="Pretendard Medium"/>
                <a:cs typeface="Pretendard Medium"/>
              </a:rPr>
              <a:t>설치 · 가입 · 기록 안내는 BD와 앱이 맡습니다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 Medium"/>
                <a:ea typeface="Pretendard Medium"/>
                <a:cs typeface="Pretendard Medium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 Medium"/>
                <a:ea typeface="Pretendard Medium"/>
                <a:cs typeface="Pretendard Medium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 Medium"/>
                <a:ea typeface="Pretendard Medium"/>
                <a:cs typeface="Pretendard Medium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 Medium"/>
                <a:ea typeface="Pretendard Medium"/>
                <a:cs typeface="Pretendard Medium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>
                <a:solidFill>
                  <a:srgbClr val="4E56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3F47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 err="1">
                <a:solidFill>
                  <a:srgbClr val="4E56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3000" b="1" dirty="0">
                <a:solidFill>
                  <a:srgbClr val="4E56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4E56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800" dirty="0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3000" dirty="0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프로그램 비용 12~15만원 − </a:t>
            </a:r>
            <a:r>
              <a:rPr lang="ko-KR" altLang="en-US" sz="3000" dirty="0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연속혈당측정기 </a:t>
            </a:r>
            <a:r>
              <a:rPr lang="en-US" sz="3000" dirty="0" err="1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구매</a:t>
            </a:r>
            <a:r>
              <a:rPr lang="en-US" sz="3000" dirty="0">
                <a:solidFill>
                  <a:srgbClr val="4E569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원가 82,488원 = </a:t>
            </a:r>
            <a:r>
              <a:rPr lang="en-US" sz="3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8138160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3339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8138160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삭센다·위고비·마운자로</a:t>
            </a:r>
            <a:r>
              <a:rPr lang="ko-KR" alt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모두</a:t>
            </a: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</a:t>
            </a:r>
            <a:r>
              <a:rPr lang="en-US" sz="2800" b="1" dirty="0">
                <a:solidFill>
                  <a:srgbClr val="3339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800" b="1" dirty="0" err="1">
                <a:solidFill>
                  <a:srgbClr val="3339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800" b="1" dirty="0">
                <a:solidFill>
                  <a:srgbClr val="3339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800" b="1" dirty="0">
                <a:solidFill>
                  <a:srgbClr val="3339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</a:t>
            </a:r>
            <a:r>
              <a:rPr lang="en-US" sz="105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 Medium" panose="020B0200000000000000" pitchFamily="50" charset="-127"/>
                <a:ea typeface="Pretendard Medium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8138160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7498079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7498079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주사치료 중단</a:t>
            </a: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3339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7498079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비만주사</a:t>
            </a:r>
            <a:r>
              <a:rPr lang="ko-KR" altLang="en-US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</a:t>
            </a:r>
            <a:r>
              <a:rPr lang="en-US" sz="320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시작</a:t>
            </a:r>
            <a:r>
              <a:rPr lang="ko-KR" altLang="en-US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부터 </a:t>
            </a:r>
            <a:r>
              <a:rPr lang="ko-KR" altLang="en-US" sz="320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웰다앱에</a:t>
            </a:r>
            <a:r>
              <a:rPr lang="ko-KR" altLang="en-US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식사</a:t>
            </a:r>
            <a:r>
              <a:rPr lang="en-US" altLang="ko-KR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</a:t>
            </a:r>
            <a:r>
              <a:rPr lang="en-US" altLang="ko-KR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·</a:t>
            </a:r>
            <a:r>
              <a:rPr lang="ko-KR" altLang="en-US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320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32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재택</a:t>
            </a:r>
            <a:r>
              <a:rPr lang="en-US" sz="30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</a:t>
            </a:r>
            <a:r>
              <a:rPr lang="ko-KR" altLang="en-US" sz="30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6B74B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300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비만주사</a:t>
            </a:r>
            <a:r>
              <a:rPr lang="ko-KR" altLang="en-US" sz="30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</a:t>
            </a:r>
            <a:r>
              <a:rPr lang="ko-KR" altLang="en-US" sz="3000" dirty="0" err="1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중단시점</a:t>
            </a:r>
            <a:r>
              <a:rPr lang="en-US" sz="3000" dirty="0">
                <a:solidFill>
                  <a:srgbClr val="3F478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✓ 기록 + 혈당데이터 </a:t>
            </a:r>
            <a:r>
              <a:rPr lang="en-US" sz="2800" dirty="0" err="1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기반</a:t>
            </a: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800" dirty="0" err="1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리포트</a:t>
            </a:r>
            <a:r>
              <a:rPr lang="en-US" sz="2800" dirty="0">
                <a:solidFill>
                  <a:srgbClr val="33397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6B74B0"/>
                </a:solidFill>
                <a:latin typeface="Pretendard Medium"/>
                <a:ea typeface="Pretendard Medium"/>
                <a:cs typeface="Pretendard Medium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생활습관 개선군 중 시작점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3A3A3A"/>
                </a:solidFill>
                <a:latin typeface="Pretendard Medium"/>
                <a:ea typeface="Pretendard Medium"/>
                <a:cs typeface="Pretendard Medium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3A3A3A"/>
                </a:solidFill>
                <a:latin typeface="Pretendard Medium"/>
                <a:ea typeface="Pretendard Medium"/>
                <a:cs typeface="Pretendard Medium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3A3A3A"/>
                </a:solidFill>
                <a:latin typeface="Pretendard Medium"/>
                <a:ea typeface="Pretendard Medium"/>
                <a:cs typeface="Pretendard Medium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3A3A3A"/>
                </a:solidFill>
                <a:latin typeface="Pretendard Medium"/>
                <a:ea typeface="Pretendard Medium"/>
                <a:cs typeface="Pretendard Medium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0707A"/>
                </a:solidFill>
                <a:latin typeface="Pretendard Medium"/>
                <a:ea typeface="Pretendard Medium"/>
                <a:cs typeface="Pretendard Medium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3F4785"/>
                </a:solidFill>
                <a:latin typeface="Pretendard Medium"/>
                <a:ea typeface="Pretendard Medium"/>
                <a:cs typeface="Pretendard Medium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56616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599" y="5394960"/>
            <a:ext cx="3311181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09828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23006" y="909828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경과 일수 · 접속 일수</a:t>
            </a:r>
            <a:b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</a:br>
            <a:r>
              <a:rPr sz="24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14984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3006" y="1014984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</a:t>
            </a:r>
            <a:b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</a:b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56616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694" y="5665276"/>
            <a:ext cx="5809488" cy="275120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09828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41254" y="909828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일별 혈당 점수</a:t>
            </a:r>
            <a:b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</a:br>
            <a:r>
              <a:rPr sz="24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14984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1254" y="1014984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 확인하고</a:t>
            </a:r>
            <a:b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</a:b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56616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76008" y="5394960"/>
            <a:ext cx="4073356" cy="32918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09828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59502" y="909828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스파이크 큰 식사</a:t>
            </a:r>
            <a:b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</a:br>
            <a:r>
              <a:rPr sz="24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14984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3F4785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59502" y="1014984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</a:t>
            </a:r>
            <a:b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</a:b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800" b="0">
                <a:solidFill>
                  <a:srgbClr val="33397A"/>
                </a:solidFill>
                <a:latin typeface="Pretendard Medium"/>
                <a:ea typeface="Pretendard Medium"/>
                <a:cs typeface="Pretendard Medium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은 CGM 센서가 측정한 모든 혈당 수치의 평균입니다. 일시적인 변화가 아닌 측정 기간 전체의 관리 상태를 보여 주며,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Overview탭 하단, [연속 혈당 지표 그래프]에서 하루 단위의 </a:t>
            </a:r>
            <a:r>
              <a:rPr sz="2400" b="1">
                <a:solidFill>
                  <a:srgbClr val="4B4F7A"/>
                </a:solidFill>
                <a:latin typeface="Pretendard"/>
                <a:ea typeface="Pretendard"/>
                <a:cs typeface="Pretendard"/>
              </a:rPr>
              <a:t>혈당 점수, 평균 혈당, 혈당 변동성 추이</a:t>
            </a: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를 확인할 수 있습니다.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수치의 추이를 보며 긍정적으로 변화하고 있는지, 개선이 필요할지 피드백해주세요.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0" y="4956048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점수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는 스파이크의 상승 폭과 지속 시간을 바탕으로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하루 혈당 변화를 평가하는 지표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입니다. 점수가 높을수록 혈당이 안정적으로 관리된 하루를 의미합니다.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0" y="7498079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변동성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은 하루 동안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수치가 얼마나 급격하게 변하는지를 나타내는 지표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입니다. 평균 혈당을 중심으로 개별 혈당 값들이 얼마나 넓게 퍼져 있는지를 수치화한 것입니다.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부가적으로 증상 변화에 대해 질문하고, 스트레스·운동·수면 등에 대해 간단하게 코멘트해주세요. (선택)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007607"/>
            <a:ext cx="694944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식곤증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6007607"/>
            <a:ext cx="694944" cy="694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잦은 허기짐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81960" y="6007607"/>
            <a:ext cx="694944" cy="6949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9636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만성 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7379208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0060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부종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0" y="7379208"/>
            <a:ext cx="694944" cy="6949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9848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피부 염증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36192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81960" y="7379208"/>
            <a:ext cx="694944" cy="6949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59636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수면 부족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8750808"/>
            <a:ext cx="694944" cy="6949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우울 &amp; 불안감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4080" y="8750808"/>
            <a:ext cx="694944" cy="6949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69848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생리불순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스트레스가 오래 지속되면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규칙적인 운동은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수면이 부족하면 스트레스 호르몬이 늘어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6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54A78"/>
                </a:solidFill>
                <a:latin typeface="Pretendard Medium"/>
                <a:ea typeface="Pretendard Medium"/>
                <a:cs typeface="Pretendard Medium"/>
              </a:rPr>
              <a:t>부가적으로 증상 변화에 대해 질문하고, 스트레스·운동·수면 등에 대해 간단하게 코멘트해주세요. (선택)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1089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10896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연속혈당측정기 APP 화면에 저혈당이라고 나타났는데 괜찮나요?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65760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6464" y="480060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26464" y="50749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7492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운동하고 혈당이 올랐어요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59"/>
            <a:ext cx="21031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6464" y="6272783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6464" y="6547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6547103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혈당 스파이크가 나타나지 않으면 무엇이든 먹어도 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095743"/>
            <a:ext cx="2103120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혈당 스파이크가 없다고 해서 무엇이든 먹어도 되는 건 절대 아닙니다. 혈당 스파이크가 없다는 것은 혈당 상승이 상대적으로 크지 않다는 뜻이지 음식이 건강하다는 보증서는 아니에요. 특히 술이나 지방+정제 탄수화물 조합의 초가공식품은 혈당은 크게 오르지 않더라도 인슐린 분비를 자극하기 때문에 대사 건강에는 문제가 될 수 있어요. 혈당 그래프를 통해 전반적인 관리의 방향성을 잡아보실 수 있지만, 그래도 건강을 위해 주의해야 하는 음식이 있다는 점을 기억해주세요.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26464" y="8732519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426464" y="9006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900684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작동이 안돼요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955548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연속혈당측정기 APP에서 어떤 메시지가 뜨는지 확인해주세요. 나타나는 메시지에 따라 [연속혈당측정기 APP에서 오류 알림이 나타나면 어떻게 해야하나요?]에 대한 답변을 참고해주세요. 만약 오류 메시지가 지속적으로 해결되지 않거나, 문제를 정확히 알 수 없는 경우라면 웰다 채널톡으로 문의해주세요.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26464" y="1069848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26464" y="10972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1097280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떨어졌어요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1152144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2F3036"/>
                </a:solidFill>
                <a:latin typeface="Pretendard Medium"/>
                <a:ea typeface="Pretendard Medium"/>
                <a:cs typeface="Pretendard Medium"/>
              </a:rPr>
              <a:t>제거되었거나 떨어진 센서는 재사용할 수 없어요. 부착 시 접착테이프가 단단히 고정될 수 있도록 충분히 건조 후 부착하고, 일상생활에서 물기와 외부 충격에 주의해 주세요. TIP. 웰다 센서 패치를 사용하면 더 안전하게 고정할 수 있어요!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