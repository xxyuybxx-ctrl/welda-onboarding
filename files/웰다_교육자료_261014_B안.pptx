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2"/>
  </p:notesMasterIdLst>
  <p:sldIdLst>
    <p:sldId id="289" r:id="rId2"/>
    <p:sldId id="327" r:id="rId47"/>
    <p:sldId id="305" r:id="rId4"/>
    <p:sldId id="321" r:id="rId7"/>
    <p:sldId id="306" r:id="rId8"/>
    <p:sldId id="328" r:id="rId24"/>
    <p:sldId id="329" r:id="rId3"/>
    <p:sldId id="322" r:id="rId9"/>
    <p:sldId id="339" r:id="rId28"/>
    <p:sldId id="318" r:id="rId10"/>
    <p:sldId id="320" r:id="rId11"/>
    <p:sldId id="316" r:id="rId5"/>
    <p:sldId id="317" r:id="rId6"/>
    <p:sldId id="302" r:id="rId12"/>
    <p:sldId id="303" r:id="rId13"/>
    <p:sldId id="323" r:id="rId14"/>
    <p:sldId id="301" r:id="rId15"/>
    <p:sldId id="292" r:id="rId16"/>
    <p:sldId id="293" r:id="rId17"/>
    <p:sldId id="264" r:id="rId18"/>
    <p:sldId id="330" r:id="rId48"/>
    <p:sldId id="331" r:id="rId49"/>
    <p:sldId id="266" r:id="rId20"/>
    <p:sldId id="332" r:id="rId50"/>
    <p:sldId id="333" r:id="rId51"/>
    <p:sldId id="334" r:id="rId52"/>
    <p:sldId id="335" r:id="rId53"/>
    <p:sldId id="336" r:id="rId54"/>
    <p:sldId id="337" r:id="rId55"/>
    <p:sldId id="338" r:id="rId56"/>
    <p:sldId id="299" r:id="rId29"/>
    <p:sldId id="275" r:id="rId30"/>
    <p:sldId id="325" r:id="rId31"/>
    <p:sldId id="276" r:id="rId32"/>
    <p:sldId id="277" r:id="rId33"/>
    <p:sldId id="279" r:id="rId35"/>
    <p:sldId id="278" r:id="rId34"/>
    <p:sldId id="280" r:id="rId36"/>
    <p:sldId id="281" r:id="rId37"/>
    <p:sldId id="282" r:id="rId38"/>
    <p:sldId id="283" r:id="rId39"/>
    <p:sldId id="326" r:id="rId40"/>
    <p:sldId id="288" r:id="rId41"/>
  </p:sldIdLst>
  <p:sldSz cx="24384000" cy="13716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D67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4" d="100"/>
          <a:sy n="24" d="100"/>
        </p:scale>
        <p:origin x="78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7.xml"/><Relationship Id="rId4" Type="http://schemas.openxmlformats.org/officeDocument/2006/relationships/slide" Target="slides/slide3.xml"/><Relationship Id="rId5" Type="http://schemas.openxmlformats.org/officeDocument/2006/relationships/slide" Target="slides/slide12.xml"/><Relationship Id="rId6" Type="http://schemas.openxmlformats.org/officeDocument/2006/relationships/slide" Target="slides/slide1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20" Type="http://schemas.openxmlformats.org/officeDocument/2006/relationships/slide" Target="slides/slide23.xml"/><Relationship Id="rId24" Type="http://schemas.openxmlformats.org/officeDocument/2006/relationships/slide" Target="slides/slide6.xml"/><Relationship Id="rId28" Type="http://schemas.openxmlformats.org/officeDocument/2006/relationships/slide" Target="slides/slide9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7.xml"/><Relationship Id="rId35" Type="http://schemas.openxmlformats.org/officeDocument/2006/relationships/slide" Target="slides/slide36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slide" Target="slides/slide42.xml"/><Relationship Id="rId41" Type="http://schemas.openxmlformats.org/officeDocument/2006/relationships/slide" Target="slides/slide43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openxmlformats.org/officeDocument/2006/relationships/slide" Target="slides/slide2.xml"/><Relationship Id="rId48" Type="http://schemas.openxmlformats.org/officeDocument/2006/relationships/slide" Target="slides/slide21.xml"/><Relationship Id="rId49" Type="http://schemas.openxmlformats.org/officeDocument/2006/relationships/slide" Target="slides/slide22.xml"/><Relationship Id="rId50" Type="http://schemas.openxmlformats.org/officeDocument/2006/relationships/slide" Target="slides/slide24.xml"/><Relationship Id="rId51" Type="http://schemas.openxmlformats.org/officeDocument/2006/relationships/slide" Target="slides/slide25.xml"/><Relationship Id="rId52" Type="http://schemas.openxmlformats.org/officeDocument/2006/relationships/slide" Target="slides/slide26.xml"/><Relationship Id="rId53" Type="http://schemas.openxmlformats.org/officeDocument/2006/relationships/slide" Target="slides/slide27.xml"/><Relationship Id="rId54" Type="http://schemas.openxmlformats.org/officeDocument/2006/relationships/slide" Target="slides/slide28.xml"/><Relationship Id="rId55" Type="http://schemas.openxmlformats.org/officeDocument/2006/relationships/slide" Target="slides/slide29.xml"/><Relationship Id="rId5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5F46F5-F8B9-4334-9E9D-F274DCD0164E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970874-56F4-488E-85A2-00FDB05A6F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343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B3A049-29B9-4593-BF82-0080A40D3EC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37048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4099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8355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S03(웰다 소개 · 원장님 화면) 반영. 세 환자군 공통 메시지.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970874-56F4-488E-85A2-00FDB05A6F5E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207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S05(권유 대상 3개 환자군) 반영.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9987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5049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S06(운영 흐름 · 역할) 반영. 확인: 재방문 리포트 기능 10월 적용 여부.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S08(재방문 상담 3단계) 반영. 세부 화면 설명은 이어지는 장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S11(도입 절차 · 오늘 정할 것) 반영. 상담료 범위는 8번 장(프로그램 비용 12~15만원)에 맞춤.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22400" y="1818483"/>
            <a:ext cx="21539200" cy="853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5600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5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1422400" y="3281363"/>
            <a:ext cx="21336000" cy="8809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3200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2779245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jpg"/><Relationship Id="rId3" Type="http://schemas.openxmlformats.org/officeDocument/2006/relationships/image" Target="../media/image3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61.png"/><Relationship Id="rId9" Type="http://schemas.openxmlformats.org/officeDocument/2006/relationships/image" Target="../media/image62.png"/><Relationship Id="rId10" Type="http://schemas.openxmlformats.org/officeDocument/2006/relationships/image" Target="../media/image63.png"/><Relationship Id="rId11" Type="http://schemas.openxmlformats.org/officeDocument/2006/relationships/image" Target="../media/image64.png"/><Relationship Id="rId12" Type="http://schemas.openxmlformats.org/officeDocument/2006/relationships/image" Target="../media/image65.png"/><Relationship Id="rId13" Type="http://schemas.openxmlformats.org/officeDocument/2006/relationships/image" Target="../media/image66.png"/><Relationship Id="rId14" Type="http://schemas.openxmlformats.org/officeDocument/2006/relationships/image" Target="../media/image67.png"/><Relationship Id="rId15" Type="http://schemas.openxmlformats.org/officeDocument/2006/relationships/image" Target="../media/image68.png"/><Relationship Id="rId16" Type="http://schemas.openxmlformats.org/officeDocument/2006/relationships/image" Target="../media/image6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jpe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0.jpg"/><Relationship Id="rId3" Type="http://schemas.openxmlformats.org/officeDocument/2006/relationships/image" Target="../media/image7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1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eg"/><Relationship Id="rId3" Type="http://schemas.openxmlformats.org/officeDocument/2006/relationships/image" Target="../media/image4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1.jpeg"/><Relationship Id="rId3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6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7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9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0.jpe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1.jpe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2.jpe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3.jpe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943313" y="5086031"/>
            <a:ext cx="7882869" cy="1867751"/>
            <a:chOff x="0" y="0"/>
            <a:chExt cx="10452100" cy="2476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452100" cy="2476500"/>
            </a:xfrm>
            <a:custGeom>
              <a:avLst/>
              <a:gdLst/>
              <a:ahLst/>
              <a:cxnLst/>
              <a:rect l="l" t="t" r="r" b="b"/>
              <a:pathLst>
                <a:path w="10452100" h="2476500">
                  <a:moveTo>
                    <a:pt x="0" y="0"/>
                  </a:moveTo>
                  <a:lnTo>
                    <a:pt x="10452100" y="0"/>
                  </a:lnTo>
                  <a:lnTo>
                    <a:pt x="10452100" y="2476500"/>
                  </a:lnTo>
                  <a:lnTo>
                    <a:pt x="0" y="2476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9959930" y="1618718"/>
            <a:ext cx="2452022" cy="2835151"/>
            <a:chOff x="0" y="0"/>
            <a:chExt cx="3251200" cy="375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251200" cy="3759200"/>
            </a:xfrm>
            <a:custGeom>
              <a:avLst/>
              <a:gdLst/>
              <a:ahLst/>
              <a:cxnLst/>
              <a:rect l="l" t="t" r="r" b="b"/>
              <a:pathLst>
                <a:path w="3251200" h="3759200">
                  <a:moveTo>
                    <a:pt x="0" y="0"/>
                  </a:moveTo>
                  <a:lnTo>
                    <a:pt x="3251200" y="0"/>
                  </a:lnTo>
                  <a:lnTo>
                    <a:pt x="3251200" y="3759200"/>
                  </a:lnTo>
                  <a:lnTo>
                    <a:pt x="0" y="3759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11430000" y="107442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2200" b="1">
                <a:solidFill>
                  <a:srgbClr val="8F7CF5"/>
                </a:solidFill>
                <a:latin typeface="Pretendard"/>
                <a:ea typeface="Pretendard"/>
                <a:cs typeface="Pretendard"/>
              </a:rPr>
              <a:t>혈당 데이터 기반 생활습관 관리 프로그램</a:t>
            </a:r>
          </a:p>
          <a:p>
            <a:pPr algn="r">
              <a:lnSpc>
                <a:spcPct val="140000"/>
              </a:lnSpc>
            </a:pPr>
            <a:r>
              <a:rPr sz="1700" b="0">
                <a:solidFill>
                  <a:srgbClr val="9A9AA2"/>
                </a:solidFill>
                <a:latin typeface="Pretendard"/>
                <a:ea typeface="Pretendard"/>
                <a:cs typeface="Pretendard"/>
              </a:rPr>
              <a:t>내일을 바꾸는 대사 건강 솔루션</a:t>
            </a:r>
          </a:p>
        </p:txBody>
      </p:sp>
    </p:spTree>
    <p:extLst>
      <p:ext uri="{BB962C8B-B14F-4D97-AF65-F5344CB8AC3E}">
        <p14:creationId xmlns:p14="http://schemas.microsoft.com/office/powerpoint/2010/main" val="276933282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6440"/>
            <a:ext cx="21543264" cy="904082"/>
          </a:xfrm>
        </p:spPr>
        <p:txBody>
          <a:bodyPr/>
          <a:lstStyle/>
          <a:p>
            <a:r>
              <a:rPr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422806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880006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80006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프로그램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0006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웰다란 · 생활습관 기록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서울시 혈당캐치9988 · 권유 대상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BD 1장 환자 연결 · 환자득 · 병원득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무료 도입 · 처방만으로 충분할까요? · 4단계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41054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98254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98254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상담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8254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프로그램 시작과 점검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내원 주기 · 센서 부착 경로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59302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6516502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16502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첫방문 프로토콜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16502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웰다 시작하기 · 파트너 링크 발송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앱 설치 · 사전 설문 · 허리둘레 입력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리브레 연동 · 센서 부착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생활습관 기록 독려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22806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880006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006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 프로토콜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6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재방문 상담 3단계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기록 성실도 · 혈당 지표 · 식습관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증상 · 스트레스 · 운동 · 수면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41054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98254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254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FAQ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254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자주 묻는 질문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059302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6516502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마무리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516502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도입 절차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516502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도입 6단계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오늘 정해 주실 세 가지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8567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웰다는 혈당 데이터 기반 대사 건강 솔루션입니다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환자는 앱에 기록하고, 의원은 웰다 Pro로 확인합니다. 세 환자군 모두 기록 → 확인 → 지속의 같은 흐름입니다.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977639"/>
            <a:ext cx="21543264" cy="5806440"/>
          </a:xfrm>
          <a:prstGeom prst="roundRect">
            <a:avLst>
              <a:gd name="adj" fmla="val 5511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B09_환자_앱_화면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1070" y="4251960"/>
            <a:ext cx="2355311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05686" y="9144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환자 · 웰다 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0326" y="630936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40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pic>
        <p:nvPicPr>
          <p:cNvPr id="8" name="Picture 7" descr="B03_웰다_Pro_타임라인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286" y="4253015"/>
            <a:ext cx="6492240" cy="48442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63286" y="9144000"/>
            <a:ext cx="6492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의료진 · 웰다 Pro</a:t>
            </a:r>
          </a:p>
        </p:txBody>
      </p:sp>
      <p:sp>
        <p:nvSpPr>
          <p:cNvPr id="10" name="Oval 9"/>
          <p:cNvSpPr/>
          <p:nvPr/>
        </p:nvSpPr>
        <p:spPr>
          <a:xfrm>
            <a:off x="12487046" y="45720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8606" y="4526280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주간 요약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평균 혈당 점수 · 평균 혈당 · 변동성</a:t>
            </a:r>
          </a:p>
        </p:txBody>
      </p:sp>
      <p:sp>
        <p:nvSpPr>
          <p:cNvPr id="12" name="Oval 11"/>
          <p:cNvSpPr/>
          <p:nvPr/>
        </p:nvSpPr>
        <p:spPr>
          <a:xfrm>
            <a:off x="12487046" y="61722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8606" y="6126480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일별 식사 카드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카드 수 = 기록 순응도</a:t>
            </a:r>
          </a:p>
        </p:txBody>
      </p:sp>
      <p:sp>
        <p:nvSpPr>
          <p:cNvPr id="14" name="Oval 13"/>
          <p:cNvSpPr/>
          <p:nvPr/>
        </p:nvSpPr>
        <p:spPr>
          <a:xfrm>
            <a:off x="12487046" y="77724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8606" y="7726679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카드 클릭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식사 혈당 그래프 · AI 피드백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2806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34286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당뇨전단계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식사별 혈당 반응을 직접 보고, 약 없이 생활습관 관리를 시작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41054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2534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GLP-1 계열 투약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투약 중 만든 습관을 기록하고, 단약 전·후 비교로 유지 기준을 세움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059302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470782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생활습관 개선군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생활습관 파악 및 교정을 통한 대사증후군 예방</a:t>
            </a:r>
          </a:p>
        </p:txBody>
      </p:sp>
      <p:sp>
        <p:nvSpPr>
          <p:cNvPr id="2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8160" y="0"/>
            <a:ext cx="24607935" cy="13841963"/>
          </a:xfrm>
          <a:prstGeom prst="rect">
            <a:avLst/>
          </a:prstGeom>
        </p:spPr>
      </p:pic>
      <p:sp>
        <p:nvSpPr>
          <p:cNvPr id="16" name="Cover title ghost"/>
          <p:cNvSpPr/>
          <p:nvPr/>
        </p:nvSpPr>
        <p:spPr>
          <a:xfrm>
            <a:off x="182880" y="868680"/>
            <a:ext cx="63093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rcRect l="5434" r="5434"/>
          <a:stretch>
            <a:fillRect/>
          </a:stretch>
        </p:blipFill>
        <p:spPr>
          <a:xfrm>
            <a:off x="11831021" y="822083"/>
            <a:ext cx="11995974" cy="1243495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00" y="3008026"/>
            <a:ext cx="11503721" cy="146261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5649" y="4592818"/>
            <a:ext cx="3457975" cy="714509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59145" y="1272264"/>
            <a:ext cx="3662077" cy="892438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606" y="268041"/>
            <a:ext cx="3662077" cy="892438"/>
          </a:xfrm>
          <a:prstGeom prst="rect">
            <a:avLst/>
          </a:prstGeom>
        </p:spPr>
      </p:pic>
      <p:sp>
        <p:nvSpPr>
          <p:cNvPr id="14" name="Text 2"/>
          <p:cNvSpPr/>
          <p:nvPr/>
        </p:nvSpPr>
        <p:spPr>
          <a:xfrm>
            <a:off x="1422806" y="2926080"/>
            <a:ext cx="22185376" cy="548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환자가 앱에 식사</a:t>
            </a:r>
            <a:r>
              <a:rPr lang="en-US" altLang="ko-KR" sz="28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·</a:t>
            </a:r>
            <a:r>
              <a:rPr lang="ko-KR" altLang="en-US" sz="28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운동을 기록하면</a:t>
            </a:r>
            <a:r>
              <a:rPr lang="en-US" altLang="ko-KR" sz="28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28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진료실 </a:t>
            </a:r>
            <a:r>
              <a:rPr lang="en-US" altLang="ko-KR" sz="28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PC</a:t>
            </a:r>
            <a:r>
              <a:rPr lang="ko-KR" altLang="en-US" sz="28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에서 실시간으로 확인하고 다음 진료 상담에 활용합니다</a:t>
            </a:r>
            <a:r>
              <a:rPr lang="en-US" altLang="ko-KR" sz="28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endParaRPr lang="en-US" sz="2800" dirty="0"/>
          </a:p>
        </p:txBody>
      </p:sp>
      <p:sp>
        <p:nvSpPr>
          <p:cNvPr id="17" name="Patch left panel"/>
          <p:cNvSpPr/>
          <p:nvPr/>
        </p:nvSpPr>
        <p:spPr>
          <a:xfrm>
            <a:off x="-34757" y="4592848"/>
            <a:ext cx="11890565" cy="7779532"/>
          </a:xfrm>
          <a:prstGeom prst="rect">
            <a:avLst/>
          </a:prstGeom>
          <a:solidFill>
            <a:srgbClr val="F8F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34757" y="5236268"/>
            <a:ext cx="11890565" cy="6492674"/>
          </a:xfrm>
          <a:prstGeom prst="rect">
            <a:avLst/>
          </a:prstGeom>
        </p:spPr>
      </p:pic>
      <p:sp>
        <p:nvSpPr>
          <p:cNvPr id="19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20" name="Slide title"/>
          <p:cNvSpPr txBox="1"/>
          <p:nvPr/>
        </p:nvSpPr>
        <p:spPr>
          <a:xfrm>
            <a:off x="1422806" y="1362456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환자가 기록하면,</a:t>
            </a:r>
          </a:p>
          <a:p>
            <a:pPr algn="l">
              <a:lnSpc>
                <a:spcPct val="115000"/>
              </a:lnSpc>
            </a:pPr>
            <a:r>
              <a:rPr sz="4400" b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진료실에서 바로 봅니다</a:t>
            </a:r>
          </a:p>
        </p:txBody>
      </p:sp>
    </p:spTree>
    <p:extLst>
      <p:ext uri="{BB962C8B-B14F-4D97-AF65-F5344CB8AC3E}">
        <p14:creationId xmlns:p14="http://schemas.microsoft.com/office/powerpoint/2010/main" val="3262671159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xqcgbHPajZuMXpVaRHyALvcfVVUOLj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429000"/>
            <a:ext cx="7733343" cy="9372600"/>
          </a:xfrm>
          <a:prstGeom prst="rect">
            <a:avLst/>
          </a:prstGeom>
          <a:ln w="9525">
            <a:solidFill>
              <a:srgbClr val="E4E1F5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796229" y="3429000"/>
            <a:ext cx="64249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207709" y="3840480"/>
            <a:ext cx="56019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1,000명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07709" y="4892040"/>
            <a:ext cx="56019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당뇨 전단계 서울시민 (선착순)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541169" y="3429000"/>
            <a:ext cx="64249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6952649" y="3840480"/>
            <a:ext cx="56019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25개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52649" y="4892040"/>
            <a:ext cx="56019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자치구 보건소 연계 지원 체계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96229" y="6400800"/>
            <a:ext cx="13169841" cy="6400800"/>
          </a:xfrm>
          <a:prstGeom prst="roundRect">
            <a:avLst>
              <a:gd name="adj" fmla="val 6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436309" y="6949440"/>
            <a:ext cx="1188968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원장님께 의미하는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6309" y="80010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30669" y="7955279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공공 평가를 거쳐 선정된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프로그램입니다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6309" y="96012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30669" y="9555480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서울시 채널로 시민에게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알려지는 이름입니다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6309" y="112014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30669" y="11155680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 프로그램을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의원 · 병원에서 바로 권할 수 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2806" y="13002768"/>
            <a:ext cx="2148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이미지 · 내용 출처: 서울시 '내 손안에 서울'(2026.8), 데일리팜(2026.8.26)</a:t>
            </a:r>
          </a:p>
        </p:txBody>
      </p:sp>
      <p:sp>
        <p:nvSpPr>
          <p:cNvPr id="2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2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서울시가 선택한 혈당관리 프로그램, 웰다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서울시가 공개 모집으로 4개 기업의 제안서를 평가해 대웅제약을 「혈당캐치9988」 협력사업자로 선정했습니다.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보건소에서 시작된 웰다, 다음은 의원 · 병원입니다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보건소 검사에서 당뇨 전단계로 확인된 서울시민이 웰다로 혈당관리를 시작합니다.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429000"/>
            <a:ext cx="4871466" cy="1325880"/>
          </a:xfrm>
          <a:prstGeom prst="roundRect">
            <a:avLst>
              <a:gd name="adj" fmla="val 1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788566" y="3630168"/>
            <a:ext cx="432282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보건소 대사증후군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8566" y="4224528"/>
            <a:ext cx="432282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공복혈당 100~125mg/dL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94272" y="3429000"/>
            <a:ext cx="68580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5ACF5"/>
                </a:solidFill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80072" y="3429000"/>
            <a:ext cx="4871466" cy="1325880"/>
          </a:xfrm>
          <a:prstGeom prst="roundRect">
            <a:avLst>
              <a:gd name="adj" fmla="val 1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45832" y="3630168"/>
            <a:ext cx="432282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손목닥터9988 신청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45832" y="4224528"/>
            <a:ext cx="432282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9월 9일부터 선착순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51538" y="3429000"/>
            <a:ext cx="68580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5ACF5"/>
                </a:solidFill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537338" y="3429000"/>
            <a:ext cx="4871466" cy="1325880"/>
          </a:xfrm>
          <a:prstGeom prst="roundRect">
            <a:avLst>
              <a:gd name="adj" fmla="val 1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903098" y="3630168"/>
            <a:ext cx="432282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웰다 키트 배송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03098" y="4224528"/>
            <a:ext cx="432282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9월 29일부터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408804" y="3429000"/>
            <a:ext cx="68580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5ACF5"/>
                </a:solidFill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094604" y="3429000"/>
            <a:ext cx="4871466" cy="1325880"/>
          </a:xfrm>
          <a:prstGeom prst="roundRect">
            <a:avLst>
              <a:gd name="adj" fmla="val 1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8460364" y="3630168"/>
            <a:ext cx="432282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4  </a:t>
            </a: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착용 · 교육 · 상담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60364" y="4224528"/>
            <a:ext cx="432282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10월부터 순차 시작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2806" y="12938760"/>
            <a:ext cx="215432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내용 출처: 서울시 '내 손안에 서울'(2026.8). 세부 일정 · 조건은 서울시 공식 안내 기준</a:t>
            </a:r>
          </a:p>
        </p:txBody>
      </p:sp>
      <p:sp>
        <p:nvSpPr>
          <p:cNvPr id="3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22806" y="5257800"/>
            <a:ext cx="215432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서울시 사업과 의원 · 병원, 같은 프로그램입니다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22806" y="5897880"/>
            <a:ext cx="3255264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678070" y="5897880"/>
            <a:ext cx="9144000" cy="731520"/>
          </a:xfrm>
          <a:prstGeom prst="rect">
            <a:avLst/>
          </a:prstGeom>
          <a:solidFill>
            <a:srgbClr val="EE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678070" y="589788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서울시 혈당캐치9988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3822070" y="5897880"/>
            <a:ext cx="9144000" cy="731520"/>
          </a:xfrm>
          <a:prstGeom prst="rect">
            <a:avLst/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3822070" y="589788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의원 · 병원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22806" y="6629400"/>
            <a:ext cx="3255264" cy="1508760"/>
          </a:xfrm>
          <a:prstGeom prst="rect">
            <a:avLst/>
          </a:prstGeom>
          <a:solidFill>
            <a:srgbClr val="F6F4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742846" y="6629400"/>
            <a:ext cx="2615184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대상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78070" y="6629400"/>
            <a:ext cx="91440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998110" y="662940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보건소 검사 당뇨 전단계 시민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공복혈당 100~125mg/dL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822070" y="6629400"/>
            <a:ext cx="9144000" cy="1508760"/>
          </a:xfrm>
          <a:prstGeom prst="rect">
            <a:avLst/>
          </a:prstGeom>
          <a:solidFill>
            <a:srgbClr val="F1EE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4142110" y="662940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진료 중 확인된 당뇨 전단계 환자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같은 기준 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22806" y="8138160"/>
            <a:ext cx="3255264" cy="1508760"/>
          </a:xfrm>
          <a:prstGeom prst="rect">
            <a:avLst/>
          </a:prstGeom>
          <a:solidFill>
            <a:srgbClr val="F6F4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742846" y="8138160"/>
            <a:ext cx="2615184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인원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78070" y="8138160"/>
            <a:ext cx="91440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998110" y="813816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선착순 1,000명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3822070" y="8138160"/>
            <a:ext cx="9144000" cy="1508760"/>
          </a:xfrm>
          <a:prstGeom prst="rect">
            <a:avLst/>
          </a:prstGeom>
          <a:solidFill>
            <a:srgbClr val="F1EE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4142110" y="813816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제한 없음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22806" y="9646920"/>
            <a:ext cx="3255264" cy="1508760"/>
          </a:xfrm>
          <a:prstGeom prst="rect">
            <a:avLst/>
          </a:prstGeom>
          <a:solidFill>
            <a:srgbClr val="F6F4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742846" y="9646920"/>
            <a:ext cx="2615184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프로그램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78070" y="9646920"/>
            <a:ext cx="91440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998110" y="964692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웰다 (연속혈당측정기 + 앱)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822070" y="9646920"/>
            <a:ext cx="9144000" cy="1508760"/>
          </a:xfrm>
          <a:prstGeom prst="rect">
            <a:avLst/>
          </a:prstGeom>
          <a:solidFill>
            <a:srgbClr val="F1EE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14142110" y="964692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웰다, 동일 프로그램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422806" y="11155680"/>
            <a:ext cx="3255264" cy="1508760"/>
          </a:xfrm>
          <a:prstGeom prst="rect">
            <a:avLst/>
          </a:prstGeom>
          <a:solidFill>
            <a:srgbClr val="F6F4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742846" y="11155680"/>
            <a:ext cx="2615184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교육 · 상담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678070" y="11155680"/>
            <a:ext cx="91440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4998110" y="1115568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보건소 연계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822070" y="11155680"/>
            <a:ext cx="9144000" cy="1508760"/>
          </a:xfrm>
          <a:prstGeom prst="rect">
            <a:avLst/>
          </a:prstGeom>
          <a:solidFill>
            <a:srgbClr val="F1EE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4142110" y="11155680"/>
            <a:ext cx="850392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진료실에서 원장님 · 간호사가 직접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외래에서 이런 환자에게 권해 주세요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세 환자군 모두 같은 프로그램으로 시작합니다.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834286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7286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당뇨전단계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34286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34286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공복혈당 100~125 mg/dL 또는 HbA1c 5.7~6.4%</a:t>
            </a:r>
          </a:p>
          <a:p>
            <a:pPr algn="l">
              <a:lnSpc>
                <a:spcPct val="14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검진 ‘경계’ 통보, 약 처방은 아직 이른 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34286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34286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741054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9152534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95534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GLP-1 계열 투약 환자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534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534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마운자로 · 위고비 등 투약 중</a:t>
            </a:r>
          </a:p>
          <a:p>
            <a:pPr algn="l">
              <a:lnSpc>
                <a:spcPct val="14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감량 정체기 또는 단약 후 반등이 걱정되는 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2534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2534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6059302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16470782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613782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생활습관 개선군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70782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70782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체중 · 식후 졸림 · 식습관 고민</a:t>
            </a:r>
          </a:p>
          <a:p>
            <a:pPr algn="l">
              <a:lnSpc>
                <a:spcPct val="14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혈당은 정상, 관리 동기는 있는 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70782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470782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1579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약보다 먼저, 생활습관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79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2주 센서로 식사와 혈당의 관계를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직접 확인하는 것부터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731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단약 이후를 미리 준비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31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투약 중 식습관을 센서로 점검하고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유지 기준을 만들어 두기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7883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기록부터 가볍게 시작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7883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센서 부착은 다음 내원 때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붙여도 되는 선택</a:t>
            </a:r>
          </a:p>
        </p:txBody>
      </p:sp>
      <p:sp>
        <p:nvSpPr>
          <p:cNvPr id="3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BD 1장만 나눠 주시면, 환자 연결은 웰다가 이어갑니다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진료 중 BD를 건네면 환자가 QR로 앱을 설치하고, 인쇄된 의원 파트너 코드를 입력해 의원 웰다 Pro에 연결됩니다.</a:t>
            </a:r>
          </a:p>
        </p:txBody>
      </p:sp>
      <p:pic>
        <p:nvPicPr>
          <p:cNvPr id="5" name="Picture 4" descr="bd_gl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429000"/>
            <a:ext cx="6270469" cy="8869680"/>
          </a:xfrm>
          <a:prstGeom prst="rect">
            <a:avLst/>
          </a:prstGeom>
          <a:ln w="9525">
            <a:solidFill>
              <a:srgbClr val="E4E0F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5265997" y="11191234"/>
            <a:ext cx="2098584" cy="859661"/>
          </a:xfrm>
          <a:prstGeom prst="roundRect">
            <a:avLst>
              <a:gd name="adj" fmla="val 20000"/>
            </a:avLst>
          </a:prstGeom>
          <a:noFill/>
          <a:ln w="31750">
            <a:solidFill>
              <a:srgbClr val="E3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22806" y="12435840"/>
            <a:ext cx="627046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비만주사 (GLP-1) 버전</a:t>
            </a:r>
          </a:p>
        </p:txBody>
      </p:sp>
      <p:pic>
        <p:nvPicPr>
          <p:cNvPr id="8" name="Picture 7" descr="bd_d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195" y="3429000"/>
            <a:ext cx="6270469" cy="8869680"/>
          </a:xfrm>
          <a:prstGeom prst="rect">
            <a:avLst/>
          </a:prstGeom>
          <a:ln w="9525">
            <a:solidFill>
              <a:srgbClr val="E4E0F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2039386" y="11191234"/>
            <a:ext cx="2098584" cy="859661"/>
          </a:xfrm>
          <a:prstGeom prst="roundRect">
            <a:avLst>
              <a:gd name="adj" fmla="val 20000"/>
            </a:avLst>
          </a:prstGeom>
          <a:noFill/>
          <a:ln w="31750">
            <a:solidFill>
              <a:srgbClr val="E3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6195" y="12435840"/>
            <a:ext cx="627046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전당뇨 · 당뇨 버전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198185" y="3429000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5563945" y="3922776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5563945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78345" y="3730752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진료 중 BD 1장 전달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78345" y="4343400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의원 파트너 코드가 인쇄된 BD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198185" y="5276088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5563945" y="5769864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5563945" y="576986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78345" y="5577840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QR 스캔 → 앱 설치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78345" y="6190488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환자가 휴대폰으로 직접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198185" y="7123176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5563945" y="7616952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5563945" y="7616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78345" y="7424927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가입 후 파트너 코드 입력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78345" y="8037575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BD의 빨간 코드를 그대로 입력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198185" y="8970264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5563945" y="9464040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563945" y="946404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78345" y="9272016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의원 웰다 Pro에 연결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78345" y="9884664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사전 문진 확인 후 기록이 진료실로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198185" y="10863072"/>
            <a:ext cx="7767885" cy="1984247"/>
          </a:xfrm>
          <a:prstGeom prst="roundRect">
            <a:avLst>
              <a:gd name="adj" fmla="val 12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5655385" y="10863072"/>
            <a:ext cx="6853485" cy="1984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의원이 할 일은 BD 건네기 하나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설치 · 가입 · 기록 안내는 BD와 앱이 맡습니다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3202B"/>
                </a:solidFill>
                <a:latin typeface="Pretendard"/>
                <a:ea typeface="Pretendard"/>
                <a:cs typeface="Pretendard"/>
              </a:rPr>
              <a:t>빨간 칸 </a:t>
            </a:r>
            <a:r>
              <a:rPr sz="1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= 의원 파트너 코드가 인쇄되는 자리.  웰다 BD 인쇄 페이지에서 코드만 입력하면 A4 양면으로 바로 출력됩니다.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기록이 쌓일수록, 환자도 의원도 얻습니다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환자는 내 몸의 변화를 보고, 의원은 그 기록으로 다시 상담합니다.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22806" y="3429000"/>
            <a:ext cx="7863840" cy="9144000"/>
          </a:xfrm>
          <a:prstGeom prst="roundRect">
            <a:avLst>
              <a:gd name="adj" fmla="val 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925726" y="388620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user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886" y="402336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85846" y="388620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환자가 얻는 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5726" y="50292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cal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7186" y="528066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43046" y="50749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체중 유지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3046" y="56875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기록으로 감량 이후까지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5726" y="68580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footprints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7186" y="710946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43046" y="69037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생활습관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3046" y="75163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식사 · 활동 패턴을 스스로 파악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25726" y="86868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86" y="8938260"/>
            <a:ext cx="640080" cy="64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343046" y="87325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나에게 맞춘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3046" y="93451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내 데이터로 받는 상담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25726" y="105156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activity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77186" y="10767060"/>
            <a:ext cx="640080" cy="6400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343046" y="105613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혈당 변화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43046" y="111739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식사 · 활동별 혈당 반응을 눈으로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102230" y="3429000"/>
            <a:ext cx="7863840" cy="9144000"/>
          </a:xfrm>
          <a:prstGeom prst="roundRect">
            <a:avLst>
              <a:gd name="adj" fmla="val 5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15605150" y="3886200"/>
            <a:ext cx="777240" cy="777240"/>
          </a:xfrm>
          <a:prstGeom prst="ellipse">
            <a:avLst/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building-2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742310" y="402336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6565270" y="388620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의원이 얻는 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605150" y="50292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heart-handshake_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856610" y="5280660"/>
            <a:ext cx="640080" cy="6400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022470" y="50749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환자와 신뢰 형성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22470" y="56875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기록을 함께 보며 이어지는 관리 관계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605150" y="68580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calendar-check_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856610" y="7109460"/>
            <a:ext cx="640080" cy="6400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7022470" y="69037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재방문 유도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022470" y="75163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기록 확인이 다음 상담의 이유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605150" y="86868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stethoscope_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856610" y="8938260"/>
            <a:ext cx="640080" cy="6400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7022470" y="87325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차별화된 진료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022470" y="93451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처방을 넘어 생활습관까지 관리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605150" y="105156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badge-percent_l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856610" y="10767060"/>
            <a:ext cx="640080" cy="6400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7022470" y="105613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무료 도입 · 추가 수익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022470" y="111739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도입 비용 없이 시작 (다음 장)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6646" y="3474720"/>
            <a:ext cx="58155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웰다 관리 루프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99878" y="411480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notebook-pen_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47350" y="4434840"/>
            <a:ext cx="640080" cy="64008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188598" y="431596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환자 기록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88598" y="482803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앱에 식사 · 운동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1965838" y="5449824"/>
            <a:ext cx="0" cy="347472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9999878" y="585216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monitor-check_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347350" y="6172200"/>
            <a:ext cx="640080" cy="64008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1188598" y="605332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의원 확인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88598" y="656539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웰다 Pro 데이터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1965838" y="7187184"/>
            <a:ext cx="0" cy="347472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999878" y="758952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7" name="Picture 56" descr="stethoscope_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47350" y="7909560"/>
            <a:ext cx="640080" cy="64008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1188598" y="779068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데이터 상담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88598" y="830275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기록 기반 피드백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1965838" y="8924544"/>
            <a:ext cx="0" cy="347471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9999878" y="932688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calendar-check_p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47350" y="9646919"/>
            <a:ext cx="640080" cy="64008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1188598" y="952804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88598" y="10040111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4주 상담 · 2주 센서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3931798" y="9966959"/>
            <a:ext cx="411480" cy="0"/>
          </a:xfrm>
          <a:prstGeom prst="line">
            <a:avLst/>
          </a:prstGeom>
          <a:ln w="28575">
            <a:solidFill>
              <a:srgbClr val="7664F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4343278" y="4754880"/>
            <a:ext cx="0" cy="5212079"/>
          </a:xfrm>
          <a:prstGeom prst="line">
            <a:avLst/>
          </a:prstGeom>
          <a:ln w="28575">
            <a:solidFill>
              <a:srgbClr val="7664F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3968374" y="4754880"/>
            <a:ext cx="374904" cy="0"/>
          </a:xfrm>
          <a:prstGeom prst="line">
            <a:avLst/>
          </a:prstGeom>
          <a:ln w="28575">
            <a:solidFill>
              <a:srgbClr val="7664F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453006" y="6537959"/>
            <a:ext cx="4572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다</a:t>
            </a:r>
          </a:p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시</a:t>
            </a:r>
          </a:p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기</a:t>
            </a:r>
          </a:p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560966" y="10927080"/>
            <a:ext cx="5266944" cy="1645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560966" y="10927080"/>
            <a:ext cx="5266944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한 번의 처방이</a:t>
            </a:r>
          </a:p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지속되는 관리 관계로</a:t>
            </a:r>
          </a:p>
        </p:txBody>
      </p:sp>
      <p:sp>
        <p:nvSpPr>
          <p:cNvPr id="71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7481743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1422400" y="1362456"/>
            <a:ext cx="221853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6240"/>
              </a:lnSpc>
            </a:pPr>
            <a:r>
              <a:rPr 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웰다는 무료로 도입하고,</a:t>
            </a:r>
            <a:endParaRPr lang="en-US" sz="4800" dirty="0"/>
          </a:p>
          <a:p>
            <a:pPr>
              <a:lnSpc>
                <a:spcPts val="6240"/>
              </a:lnSpc>
            </a:pPr>
            <a:r>
              <a:rPr lang="ko-KR" alt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추가 </a:t>
            </a:r>
            <a:r>
              <a:rPr lang="en-US" sz="4400" b="1" dirty="0" err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연속혈당측정기</a:t>
            </a:r>
            <a:r>
              <a:rPr 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활용 시 추가 수익 기회를 확보합니다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428751" y="3313329"/>
            <a:ext cx="7415478" cy="2712240"/>
          </a:xfrm>
          <a:prstGeom prst="roundRect">
            <a:avLst>
              <a:gd name="adj" fmla="val 121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947334" y="3679508"/>
            <a:ext cx="6569660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26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 도입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947334" y="4192537"/>
            <a:ext cx="6569660" cy="11707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8820"/>
              </a:lnSpc>
            </a:pPr>
            <a:r>
              <a:rPr lang="en-US" sz="6600" b="1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947334" y="5363318"/>
            <a:ext cx="6569660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26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비용 없이 시작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9161728" y="3313329"/>
            <a:ext cx="13793524" cy="2712240"/>
          </a:xfrm>
          <a:prstGeom prst="roundRect">
            <a:avLst>
              <a:gd name="adj" fmla="val 121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9680311" y="3679508"/>
            <a:ext cx="13139046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2600" b="1" dirty="0" err="1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연속혈당측정기</a:t>
            </a:r>
            <a:r>
              <a:rPr lang="en-US" sz="26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활용 시 추가 수익 · 환자 100명이 선택하면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680311" y="4192536"/>
            <a:ext cx="13139046" cy="1544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1760"/>
              </a:lnSpc>
            </a:pPr>
            <a:r>
              <a:rPr lang="en-US" sz="80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최대 675만원</a:t>
            </a:r>
            <a:endParaRPr lang="en-US" sz="8000" dirty="0"/>
          </a:p>
        </p:txBody>
      </p:sp>
      <p:sp>
        <p:nvSpPr>
          <p:cNvPr id="11" name="Text 9"/>
          <p:cNvSpPr/>
          <p:nvPr/>
        </p:nvSpPr>
        <p:spPr>
          <a:xfrm>
            <a:off x="3056044" y="9860707"/>
            <a:ext cx="3573780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38~68만원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3253238" y="10581958"/>
            <a:ext cx="3179128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4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375,120~675,120원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422401" y="11059268"/>
            <a:ext cx="6841066" cy="254000"/>
          </a:xfrm>
          <a:custGeom>
            <a:avLst/>
            <a:gdLst/>
            <a:ahLst/>
            <a:cxnLst/>
            <a:rect l="l" t="t" r="r" b="b"/>
            <a:pathLst>
              <a:path w="3420533" h="127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127000"/>
                </a:lnTo>
                <a:lnTo>
                  <a:pt x="0" y="127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CFC8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90143" y="11440268"/>
            <a:ext cx="190531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10명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959659" y="8844707"/>
            <a:ext cx="4464686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5B4F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188~338만원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0297797" y="9565958"/>
            <a:ext cx="3788410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4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1,875,600~3,375,600원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771467" y="10043268"/>
            <a:ext cx="6841066" cy="1270000"/>
          </a:xfrm>
          <a:custGeom>
            <a:avLst/>
            <a:gdLst/>
            <a:ahLst/>
            <a:cxnLst/>
            <a:rect l="l" t="t" r="r" b="b"/>
            <a:pathLst>
              <a:path w="3420533" h="635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635000"/>
                </a:lnTo>
                <a:lnTo>
                  <a:pt x="0" y="635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A79A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1239211" y="11440268"/>
            <a:ext cx="190531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50명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7308725" y="7574707"/>
            <a:ext cx="4464686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375~675만원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17646863" y="8295958"/>
            <a:ext cx="3788410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4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3,751,200~6,751,200원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6120535" y="8773268"/>
            <a:ext cx="6841066" cy="2540000"/>
          </a:xfrm>
          <a:custGeom>
            <a:avLst/>
            <a:gdLst/>
            <a:ahLst/>
            <a:cxnLst/>
            <a:rect l="l" t="t" r="r" b="b"/>
            <a:pathLst>
              <a:path w="3420533" h="1270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1270000"/>
                </a:lnTo>
                <a:lnTo>
                  <a:pt x="0" y="1270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7664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8453340" y="11440268"/>
            <a:ext cx="21751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100명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428751" y="12990197"/>
            <a:ext cx="22185376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360"/>
              </a:lnSpc>
            </a:pPr>
            <a:r>
              <a:rPr lang="en-US" sz="24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프로그램 비용 15만원 기준 최대치입니다. 리브레 구매 원가 기준의 단순 차액이며, 기타 운영 비용은 제외한 금액입니다.</a:t>
            </a:r>
            <a:endParaRPr lang="en-US" sz="2400" dirty="0"/>
          </a:p>
        </p:txBody>
      </p:sp>
      <p:sp>
        <p:nvSpPr>
          <p:cNvPr id="24" name="Text 8"/>
          <p:cNvSpPr/>
          <p:nvPr/>
        </p:nvSpPr>
        <p:spPr>
          <a:xfrm>
            <a:off x="1428751" y="6224270"/>
            <a:ext cx="13910776" cy="767028"/>
          </a:xfrm>
          <a:prstGeom prst="roundRect">
            <a:avLst>
              <a:gd name="adj" fmla="val 50000"/>
            </a:avLst>
          </a:prstGeom>
          <a:solidFill>
            <a:srgbClr val="F7F5FE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640"/>
              </a:lnSpc>
            </a:pPr>
            <a:r>
              <a:rPr lang="en-US" sz="26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 비용 12~15만원 − </a:t>
            </a:r>
            <a:r>
              <a:rPr lang="ko-KR" altLang="en-US" sz="26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연속혈당측정기 </a:t>
            </a:r>
            <a:r>
              <a:rPr lang="en-US" sz="2600" dirty="0" err="1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</a:t>
            </a:r>
            <a:r>
              <a:rPr lang="en-US" sz="26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원가 82,488원 = </a:t>
            </a:r>
            <a:r>
              <a:rPr lang="en-US" sz="26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1명당 3.8~6.8만원</a:t>
            </a:r>
            <a:endParaRPr lang="en-US" sz="2600" dirty="0"/>
          </a:p>
        </p:txBody>
      </p:sp>
      <p:sp>
        <p:nvSpPr>
          <p:cNvPr id="2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24506323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en-US" b="1" dirty="0" err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비만주사</a:t>
            </a:r>
            <a:r>
              <a:rPr 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치료</a:t>
            </a:r>
            <a:r>
              <a:rPr lang="en-US" altLang="ko-KR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처방만으로 충분할까요</a:t>
            </a:r>
            <a:r>
              <a:rPr lang="en-US" altLang="ko-KR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?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1820639" y="3241809"/>
            <a:ext cx="6963834" cy="2517524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2237623" y="3658794"/>
            <a:ext cx="6313762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경쟁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2237623" y="4329247"/>
            <a:ext cx="6313762" cy="107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30"/>
              </a:lnSpc>
            </a:pPr>
            <a:r>
              <a:rPr lang="ko-KR" altLang="en-US" sz="26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최저가 중심의 경쟁으로 환자 이탈</a:t>
            </a:r>
            <a:endParaRPr lang="en-US" altLang="ko-KR" sz="2600" b="1" dirty="0">
              <a:solidFill>
                <a:srgbClr val="4B5599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4030"/>
              </a:lnSpc>
            </a:pPr>
            <a:r>
              <a:rPr lang="ko-KR" altLang="en-US" sz="26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</a:rPr>
              <a:t>지속적인 관리와 재방문 저하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1820639" y="9087490"/>
            <a:ext cx="6963834" cy="2748754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237621" y="9504475"/>
            <a:ext cx="6313762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</a:t>
            </a:r>
            <a:r>
              <a:rPr lang="ko-KR" alt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관리의 필요성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2237621" y="10174928"/>
            <a:ext cx="6313762" cy="107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30"/>
              </a:lnSpc>
            </a:pPr>
            <a:r>
              <a:rPr lang="en-US" sz="26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삭센다·위고비·마운자로</a:t>
            </a:r>
            <a:r>
              <a:rPr lang="ko-KR" altLang="en-US" sz="26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 미국허가사항에는</a:t>
            </a:r>
            <a:endParaRPr lang="en-US" sz="2600" dirty="0">
              <a:solidFill>
                <a:srgbClr val="4B5599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4030"/>
              </a:lnSpc>
            </a:pPr>
            <a:r>
              <a:rPr lang="en-US" sz="26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</a:t>
            </a:r>
            <a:r>
              <a:rPr lang="en-US" sz="26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6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식이와 신체활동 </a:t>
            </a:r>
            <a:r>
              <a:rPr lang="en-US" sz="2600" b="1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병행이</a:t>
            </a:r>
            <a:r>
              <a:rPr lang="en-US" sz="26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6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포함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422400" y="12547600"/>
            <a:ext cx="2218537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3600"/>
              </a:lnSpc>
            </a:pPr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FDA: 미국 식품의약국(U.S. Food and Drug Administration). 삭센다·위고비·마운자로 허가사항(처방정보) </a:t>
            </a:r>
            <a:r>
              <a:rPr lang="en-US" sz="105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</a:t>
            </a:r>
            <a:r>
              <a:rPr lang="en-US" sz="105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</a:t>
            </a:r>
            <a:endParaRPr lang="en-US" sz="1050" dirty="0">
              <a:solidFill>
                <a:srgbClr val="5D67A4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3600"/>
              </a:lnSpc>
            </a:pPr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Ref.&gt; 1. West S, et al. BMJ. 2026;392:e085304. </a:t>
            </a:r>
          </a:p>
        </p:txBody>
      </p:sp>
      <p:sp>
        <p:nvSpPr>
          <p:cNvPr id="15" name="Shape 5"/>
          <p:cNvSpPr/>
          <p:nvPr/>
        </p:nvSpPr>
        <p:spPr>
          <a:xfrm>
            <a:off x="1820639" y="6163232"/>
            <a:ext cx="6963834" cy="2520359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6"/>
          <p:cNvSpPr/>
          <p:nvPr/>
        </p:nvSpPr>
        <p:spPr>
          <a:xfrm>
            <a:off x="2231270" y="6527996"/>
            <a:ext cx="6313762" cy="522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요요</a:t>
            </a:r>
            <a:endParaRPr lang="en-US" sz="3400" dirty="0"/>
          </a:p>
        </p:txBody>
      </p:sp>
      <p:sp>
        <p:nvSpPr>
          <p:cNvPr id="17" name="Text 7"/>
          <p:cNvSpPr/>
          <p:nvPr/>
        </p:nvSpPr>
        <p:spPr>
          <a:xfrm>
            <a:off x="2231270" y="7198449"/>
            <a:ext cx="6313762" cy="5163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ko-KR" altLang="en-US" sz="26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주사치료 중단</a:t>
            </a:r>
            <a:r>
              <a:rPr lang="en-US" sz="26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</a:t>
            </a:r>
          </a:p>
          <a:p>
            <a:pPr>
              <a:lnSpc>
                <a:spcPts val="4030"/>
              </a:lnSpc>
            </a:pPr>
            <a:r>
              <a:rPr lang="ko-KR" altLang="en-US" sz="26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체중 유지를 위한 생활습관 관리 필요</a:t>
            </a:r>
            <a:endParaRPr lang="en-US" sz="2600" b="1" dirty="0"/>
          </a:p>
        </p:txBody>
      </p:sp>
      <p:sp>
        <p:nvSpPr>
          <p:cNvPr id="18" name="Text 8"/>
          <p:cNvSpPr/>
          <p:nvPr/>
        </p:nvSpPr>
        <p:spPr>
          <a:xfrm>
            <a:off x="2231270" y="7602348"/>
            <a:ext cx="6313762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920"/>
              </a:lnSpc>
            </a:pPr>
            <a:endParaRPr lang="en-US" sz="2800" dirty="0"/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133" y="3264035"/>
            <a:ext cx="10393802" cy="8572209"/>
          </a:xfrm>
          <a:prstGeom prst="rect">
            <a:avLst/>
          </a:prstGeom>
        </p:spPr>
      </p:pic>
      <p:sp>
        <p:nvSpPr>
          <p:cNvPr id="2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4070987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ko-KR" altLang="en-US" b="1" dirty="0" err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프로그램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428751" y="2696286"/>
            <a:ext cx="22185376" cy="548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비만주사</a:t>
            </a:r>
            <a:r>
              <a:rPr lang="ko-KR" altLang="en-US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8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r>
              <a:rPr lang="ko-KR" altLang="en-US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부터 </a:t>
            </a:r>
            <a:r>
              <a:rPr lang="ko-KR" altLang="en-US" sz="28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웰다앱에</a:t>
            </a:r>
            <a:r>
              <a:rPr lang="ko-KR" altLang="en-US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식사</a:t>
            </a:r>
            <a:r>
              <a:rPr lang="en-US" altLang="ko-KR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r>
              <a:rPr lang="ko-KR" altLang="en-US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운동을 기록하여 치료 중단 전후의 변화를 비교하고</a:t>
            </a:r>
            <a:r>
              <a:rPr lang="en-US" altLang="ko-KR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, </a:t>
            </a:r>
            <a:r>
              <a:rPr lang="ko-KR" altLang="en-US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개인별</a:t>
            </a:r>
            <a:r>
              <a:rPr lang="en-US" altLang="ko-KR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</a:t>
            </a:r>
            <a:r>
              <a:rPr lang="ko-KR" altLang="en-US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관리 기준을 수립한 후 </a:t>
            </a:r>
            <a:endParaRPr lang="en-US" altLang="ko-KR" sz="2800" dirty="0">
              <a:solidFill>
                <a:srgbClr val="5D67A4"/>
              </a:solidFill>
              <a:latin typeface="Pretendard" pitchFamily="34" charset="0"/>
              <a:ea typeface="Pretendard" pitchFamily="34" charset="-122"/>
              <a:cs typeface="Pretendard" pitchFamily="34" charset="-120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ko-KR" altLang="en-US" sz="28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비만주사</a:t>
            </a:r>
            <a:r>
              <a:rPr lang="ko-KR" altLang="en-US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중단 시점에 연속혈당측정기를 부착하여 </a:t>
            </a:r>
            <a:r>
              <a:rPr lang="ko-KR" altLang="en-US" sz="28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혈당데이터</a:t>
            </a:r>
            <a:r>
              <a:rPr lang="ko-KR" altLang="en-US" sz="28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기반 요요 예방 관리까지 이어가는 프로그램 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42875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82033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077634" y="5588286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820334" y="6619363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26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관리 교육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820334" y="7388905"/>
            <a:ext cx="4550008" cy="15136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4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서비스 안내 및 가입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4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관리 교육 진행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4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앱 사용법 안내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820334" y="9362301"/>
            <a:ext cx="2392628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4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가입 · 무료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87070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26228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530167" y="5531137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기록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325482" y="6648573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26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재택</a:t>
            </a:r>
            <a:r>
              <a:rPr lang="en-US" sz="26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6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292307" y="7487287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4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식사, 운동 기록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4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앱으로 간편 관리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262284" y="9449183"/>
            <a:ext cx="2535766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4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식사·운동 기록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231265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270423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3941529" y="5588286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재방문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및 상담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12704234" y="6666991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26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4주마다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704234" y="7450685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4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기록 기반 리포트 제공 및 상담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400" dirty="0">
                <a:solidFill>
                  <a:srgbClr val="9AA2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10월 적용 예정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2704234" y="9362301"/>
            <a:ext cx="2778390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4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변화 확인 및 상담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775460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814618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9466852" y="5531137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</a:t>
            </a:r>
            <a:r>
              <a:rPr lang="en-US" sz="3400" b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부착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18146184" y="6698208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ko-KR" altLang="en-US" sz="26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비만주사</a:t>
            </a:r>
            <a:r>
              <a:rPr lang="ko-KR" altLang="en-US" sz="26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6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중단시점</a:t>
            </a:r>
            <a:r>
              <a:rPr lang="en-US" sz="26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2주마다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8146184" y="7527135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4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기록 + 혈당데이터 </a:t>
            </a:r>
            <a:r>
              <a:rPr lang="en-US" sz="24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기반</a:t>
            </a:r>
            <a:r>
              <a:rPr lang="en-US" sz="24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>
              <a:lnSpc>
                <a:spcPts val="3840"/>
              </a:lnSpc>
            </a:pPr>
            <a:r>
              <a:rPr lang="en-US" sz="24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리포트</a:t>
            </a:r>
            <a:r>
              <a:rPr lang="en-US" sz="24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제공 및 상담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8146184" y="9271300"/>
            <a:ext cx="2641336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4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혈당데이터 연동</a:t>
            </a:r>
            <a:endParaRPr lang="en-US" sz="2400" dirty="0"/>
          </a:p>
        </p:txBody>
      </p:sp>
      <p:sp>
        <p:nvSpPr>
          <p:cNvPr id="29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38657613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5025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694" y="11566864"/>
            <a:ext cx="6815605" cy="1336763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1889" y="7542261"/>
            <a:ext cx="6148726" cy="851931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6184" y="8723376"/>
            <a:ext cx="7000615" cy="1583246"/>
          </a:xfrm>
          <a:prstGeom prst="rect">
            <a:avLst/>
          </a:prstGeom>
        </p:spPr>
      </p:pic>
      <p:sp>
        <p:nvSpPr>
          <p:cNvPr id="9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프로그램 시작과 점검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11292840"/>
            <a:ext cx="7543800" cy="1783080"/>
          </a:xfrm>
          <a:prstGeom prst="roundRect">
            <a:avLst>
              <a:gd name="adj" fmla="val 25000"/>
            </a:avLst>
          </a:prstGeom>
          <a:noFill/>
          <a:ln w="25400">
            <a:solidFill>
              <a:srgbClr val="9F94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332720" y="11000232"/>
            <a:ext cx="1828800" cy="585216"/>
          </a:xfrm>
          <a:prstGeom prst="roundRect">
            <a:avLst>
              <a:gd name="adj" fmla="val 50000"/>
            </a:avLst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332720" y="11000232"/>
            <a:ext cx="1828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선택 사항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76519" y="11612880"/>
            <a:ext cx="5943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필요한 환자만 부착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첫 내원 당일 또는 앱 기록 후 다음 내원</a:t>
            </a:r>
          </a:p>
        </p:txBody>
      </p:sp>
    </p:spTree>
    <p:extLst>
      <p:ext uri="{BB962C8B-B14F-4D97-AF65-F5344CB8AC3E}">
        <p14:creationId xmlns:p14="http://schemas.microsoft.com/office/powerpoint/2010/main" val="6504187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환자는 2주마다 센서 교체, 4주마다 상담으로 내원합니다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센서 부착은 항상 의원에서 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788566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8686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첫 내원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8566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가입 · 생활습관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4611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6170371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0491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의원에서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부착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86416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552176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12296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 · 집에서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52176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568220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4933980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94100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33980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교체 내원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950025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19315785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75905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4주마다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315785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 상담</a:t>
            </a:r>
          </a:p>
          <a:p>
            <a:pPr algn="l">
              <a:lnSpc>
                <a:spcPct val="125000"/>
              </a:lnSpc>
            </a:pPr>
            <a:r>
              <a:rPr sz="2000" b="0">
                <a:solidFill>
                  <a:srgbClr val="9AA2D6"/>
                </a:solidFill>
                <a:latin typeface="Pretendard"/>
                <a:ea typeface="Pretendard"/>
                <a:cs typeface="Pretendard"/>
              </a:rPr>
              <a:t>리포트 기능 10월 적용 예정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22806" y="6858000"/>
            <a:ext cx="21543264" cy="51206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71446" y="7269480"/>
            <a:ext cx="1280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센서 부착 시점 — 두 가지 경로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71446" y="8229600"/>
            <a:ext cx="9948672" cy="2011680"/>
          </a:xfrm>
          <a:prstGeom prst="roundRect">
            <a:avLst>
              <a:gd name="adj" fmla="val 12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2382926" y="854964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경로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2926" y="9372600"/>
            <a:ext cx="912571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내원 당일, 교육 직후 의원에서 부착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468758" y="8229600"/>
            <a:ext cx="9948672" cy="2011680"/>
          </a:xfrm>
          <a:prstGeom prst="roundRect">
            <a:avLst>
              <a:gd name="adj" fmla="val 12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2880238" y="854964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경로 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80238" y="9372600"/>
            <a:ext cx="912571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기록으로 2~4주 먼저 시작 → 다음 내원일에 부착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71446" y="10652760"/>
            <a:ext cx="20445984" cy="868680"/>
          </a:xfrm>
          <a:prstGeom prst="roundRect">
            <a:avLst>
              <a:gd name="adj" fmla="val 3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337206" y="10698480"/>
            <a:ext cx="19714464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비용이 부담인 환자는 경로 B로 안내합니다.</a:t>
            </a:r>
          </a:p>
        </p:txBody>
      </p:sp>
      <p:sp>
        <p:nvSpPr>
          <p:cNvPr id="3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7510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91969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2298680" y="76809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344400" y="7772400"/>
            <a:ext cx="35204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웰다와 함께</a:t>
            </a:r>
          </a:p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나에게 맞는</a:t>
            </a:r>
          </a:p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건강한 생활습관을</a:t>
            </a:r>
          </a:p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만들어 보세요.</a:t>
            </a:r>
          </a:p>
        </p:txBody>
      </p:sp>
      <p:sp>
        <p:nvSpPr>
          <p:cNvPr id="5" name="Cover"/>
          <p:cNvSpPr/>
          <p:nvPr/>
        </p:nvSpPr>
        <p:spPr>
          <a:xfrm>
            <a:off x="20665440" y="12847320"/>
            <a:ext cx="3566160" cy="731520"/>
          </a:xfrm>
          <a:prstGeom prst="rect">
            <a:avLst/>
          </a:prstGeom>
          <a:solidFill>
            <a:srgbClr val="AD9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  <p:extLst>
      <p:ext uri="{BB962C8B-B14F-4D97-AF65-F5344CB8AC3E}">
        <p14:creationId xmlns:p14="http://schemas.microsoft.com/office/powerpoint/2010/main" val="35173439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6783" y="-5315"/>
            <a:ext cx="24067294" cy="13758863"/>
            <a:chOff x="0" y="0"/>
            <a:chExt cx="14262100" cy="8153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262100" cy="8153400"/>
            </a:xfrm>
            <a:custGeom>
              <a:avLst/>
              <a:gdLst/>
              <a:ahLst/>
              <a:cxnLst/>
              <a:rect l="l" t="t" r="r" b="b"/>
              <a:pathLst>
                <a:path w="14262100" h="8153400">
                  <a:moveTo>
                    <a:pt x="0" y="0"/>
                  </a:moveTo>
                  <a:lnTo>
                    <a:pt x="14262100" y="0"/>
                  </a:lnTo>
                  <a:lnTo>
                    <a:pt x="14262100" y="8153400"/>
                  </a:lnTo>
                  <a:lnTo>
                    <a:pt x="0" y="8153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2423160"/>
            <a:ext cx="15049210" cy="109728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06800" y="2423160"/>
            <a:ext cx="7111165" cy="10972800"/>
          </a:xfrm>
          <a:prstGeom prst="rect">
            <a:avLst/>
          </a:prstGeom>
        </p:spPr>
      </p:pic>
      <p:sp>
        <p:nvSpPr>
          <p:cNvPr id="6" name="Header cover"/>
          <p:cNvSpPr/>
          <p:nvPr/>
        </p:nvSpPr>
        <p:spPr>
          <a:xfrm>
            <a:off x="822960" y="502920"/>
            <a:ext cx="2331720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8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의원: 파트너 링크 발송 (웰다 Pro)</a:t>
            </a:r>
          </a:p>
        </p:txBody>
      </p:sp>
    </p:spTree>
    <p:extLst>
      <p:ext uri="{BB962C8B-B14F-4D97-AF65-F5344CB8AC3E}">
        <p14:creationId xmlns:p14="http://schemas.microsoft.com/office/powerpoint/2010/main" val="2455070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8" y="4312119"/>
            <a:ext cx="6620250" cy="41613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8506" y="6857999"/>
            <a:ext cx="890037" cy="55627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8506" y="7414271"/>
            <a:ext cx="1200934" cy="44956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0683" y="5943600"/>
            <a:ext cx="1170838" cy="237743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6388566" y="6233744"/>
            <a:ext cx="1091226" cy="203631"/>
          </a:xfrm>
          <a:prstGeom prst="rect">
            <a:avLst/>
          </a:prstGeom>
        </p:spPr>
      </p:pic>
      <p:sp>
        <p:nvSpPr>
          <p:cNvPr id="9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환자가 받는 알림톡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 앱 온보딩, 4단계로 진행합니다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웰다 앱 설치부터 리브레 연동까지 환자가 거치는 순서입니다. 4단계 리브레 연동은 센서를 부착하는 환자만 진행합니다.</a:t>
            </a:r>
          </a:p>
        </p:txBody>
      </p:sp>
      <p:pic>
        <p:nvPicPr>
          <p:cNvPr id="5" name="Picture 4" descr="j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749039"/>
            <a:ext cx="21543264" cy="304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22806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QR 스캔 → 회원가입 → 사전 문진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08622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4개 섹션 설문 · AI 코치 맞춤 조언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4438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목표 설정 · 허리둘레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80254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부착 환자만 · 최대 15분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2806" y="85496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환자에게 함께 안내할 문의 채널</a:t>
            </a:r>
          </a:p>
        </p:txBody>
      </p:sp>
      <p:pic>
        <p:nvPicPr>
          <p:cNvPr id="11" name="Picture 10" descr="j_FO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806" y="9098280"/>
            <a:ext cx="21543264" cy="34386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 앱 설치 · 회원가입</a:t>
            </a:r>
          </a:p>
        </p:txBody>
      </p:sp>
      <p:pic>
        <p:nvPicPr>
          <p:cNvPr id="4" name="Picture 3" descr="j_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709" y="2697480"/>
            <a:ext cx="21517457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9418320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사전 문진 미통과 기준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사전 설문 진행</a:t>
            </a:r>
          </a:p>
        </p:txBody>
      </p:sp>
      <p:pic>
        <p:nvPicPr>
          <p:cNvPr id="4" name="Picture 3" descr="j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392" y="2697480"/>
            <a:ext cx="21414091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목표 · 현재 허리둘레 입력</a:t>
            </a:r>
          </a:p>
        </p:txBody>
      </p:sp>
      <p:pic>
        <p:nvPicPr>
          <p:cNvPr id="4" name="Picture 3" descr="j_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90647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연동 준비 (웰다 앱 안내)</a:t>
            </a:r>
          </a:p>
        </p:txBody>
      </p:sp>
      <p:pic>
        <p:nvPicPr>
          <p:cNvPr id="4" name="Picture 3" descr="j_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93381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리브레 앱 설치 · 계정 생성</a:t>
            </a:r>
          </a:p>
        </p:txBody>
      </p:sp>
      <p:pic>
        <p:nvPicPr>
          <p:cNvPr id="4" name="Picture 3" descr="j_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817" y="2697480"/>
            <a:ext cx="21143241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 앱에서 리브레 연동</a:t>
            </a:r>
          </a:p>
        </p:txBody>
      </p:sp>
      <p:pic>
        <p:nvPicPr>
          <p:cNvPr id="4" name="Picture 3" descr="j_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047" y="2697480"/>
            <a:ext cx="21534782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부착하기</a:t>
            </a:r>
          </a:p>
        </p:txBody>
      </p:sp>
      <p:pic>
        <p:nvPicPr>
          <p:cNvPr id="4" name="Picture 3" descr="j_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87995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활성화 (안드로이드 · iOS)</a:t>
            </a:r>
          </a:p>
        </p:txBody>
      </p:sp>
      <p:pic>
        <p:nvPicPr>
          <p:cNvPr id="4" name="Picture 3" descr="j_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10059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5743" y="10123713"/>
            <a:ext cx="4588481" cy="2939144"/>
          </a:xfrm>
          <a:prstGeom prst="rect">
            <a:avLst/>
          </a:prstGeom>
        </p:spPr>
      </p:pic>
      <p:sp>
        <p:nvSpPr>
          <p:cNvPr id="4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6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생활습관 기록 독려하기</a:t>
            </a:r>
          </a:p>
        </p:txBody>
      </p:sp>
    </p:spTree>
    <p:extLst>
      <p:ext uri="{BB962C8B-B14F-4D97-AF65-F5344CB8AC3E}">
        <p14:creationId xmlns:p14="http://schemas.microsoft.com/office/powerpoint/2010/main" val="24171649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391" y="5612117"/>
            <a:ext cx="3038929" cy="538720"/>
          </a:xfrm>
          <a:prstGeom prst="rect">
            <a:avLst/>
          </a:prstGeom>
        </p:spPr>
      </p:pic>
      <p:sp>
        <p:nvSpPr>
          <p:cNvPr id="4" name="Cover"/>
          <p:cNvSpPr/>
          <p:nvPr/>
        </p:nvSpPr>
        <p:spPr>
          <a:xfrm>
            <a:off x="1737360" y="5440680"/>
            <a:ext cx="384048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2057400" y="5504688"/>
            <a:ext cx="5486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0">
                <a:solidFill>
                  <a:srgbClr val="6D60AC"/>
                </a:solidFill>
                <a:latin typeface="Pretendard"/>
                <a:ea typeface="Pretendard"/>
                <a:cs typeface="Pretendard"/>
              </a:rPr>
              <a:t>Chapter 4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재방문 상담은 기록 → 혈당 지표 → 식사 순서로 봅니다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웰다 Pro › 유저 목록에서 환자를 검색해 Overview와 타임라인 탭을 엽니다.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834286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5846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기록 성실도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34286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A22_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0656" y="5349240"/>
            <a:ext cx="3771067" cy="37490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34286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5886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경과 일수 · 접속 일수 · 기록 건수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4286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5886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기록이 비면 상담 시간을 더 배분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41054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9152534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04094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혈당 지표 추이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52534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16" descr="A23_grap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3974" y="5826504"/>
            <a:ext cx="5900927" cy="27945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52534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24134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일별 혈당 점수 · 평균 혈당 · 변동성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2534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24134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개선 방향인지, GLP-1군은 단약 전·후 비교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059302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Oval 22"/>
          <p:cNvSpPr/>
          <p:nvPr/>
        </p:nvSpPr>
        <p:spPr>
          <a:xfrm>
            <a:off x="16470782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522342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식습관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70782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6" name="Picture 25" descr="A25_timeline_gra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93136" y="5349240"/>
            <a:ext cx="4639099" cy="374903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6470782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42382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스파이크 큰 식사 · C~F 등급 비중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70782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42382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“이 메뉴가 혈당을 이렇게 올립니다”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22806" y="11612880"/>
            <a:ext cx="21543264" cy="1005840"/>
          </a:xfrm>
          <a:prstGeom prst="roundRect">
            <a:avLst>
              <a:gd name="adj" fmla="val 3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880006" y="11631168"/>
            <a:ext cx="20628864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선택  </a:t>
            </a: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세 항목이 양호하면 식곤증 · 잦은 허기 · 피로 등 증상 변화를 짧게 묻고 마무리합니다.</a:t>
            </a:r>
          </a:p>
        </p:txBody>
      </p:sp>
      <p:sp>
        <p:nvSpPr>
          <p:cNvPr id="33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20116800" y="9784080"/>
            <a:ext cx="40233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6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기록 성실도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5636240" y="9528048"/>
            <a:ext cx="8503920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5727680" y="9573768"/>
            <a:ext cx="8138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평균 혈당</a:t>
            </a:r>
            <a:r>
              <a:rPr sz="22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은 CGM 센서가 측정한 모든 혈당 수치의 평균입니다. 일시적인 변화가 아닌 측정 기간 전체의 관리 상태를 보여 주며, </a:t>
            </a:r>
            <a:r>
              <a:rPr sz="22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당화혈색소 추이와 함께 해석</a:t>
            </a:r>
            <a:r>
              <a:rPr sz="22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합니다.</a:t>
            </a:r>
          </a:p>
        </p:txBody>
      </p:sp>
      <p:sp>
        <p:nvSpPr>
          <p:cNvPr id="5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7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혈당 지표 추이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식습관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지표가 좋지 않을 때 · 생활습관 교육 포인트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0469880" y="11109960"/>
            <a:ext cx="128016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79608" y="11155680"/>
            <a:ext cx="12618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혈당 스파이크가 잦은 분들이 흔히 호소하는 증상입니다.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생활습관을 실천하면서 이전보다 나아졌는지 질문해 주세요.</a:t>
            </a:r>
          </a:p>
        </p:txBody>
      </p:sp>
      <p:sp>
        <p:nvSpPr>
          <p:cNvPr id="5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7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부가 질문과 코멘트 · 증상 변화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6400800" y="5166360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37960" y="5212080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스트레스가 오래 지속되면 </a:t>
            </a:r>
            <a:r>
              <a:rPr sz="22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조절에 영향을 줄 수 있습니다.</a:t>
            </a:r>
            <a:r>
              <a:rPr sz="22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 수면 부족이나 식욕 증가가 함께 오기 쉬우므로, 식단·운동과 함께 스트레스 상태도 확인합니다.</a:t>
            </a:r>
          </a:p>
        </p:txBody>
      </p:sp>
      <p:sp>
        <p:nvSpPr>
          <p:cNvPr id="5" name="Cover"/>
          <p:cNvSpPr/>
          <p:nvPr/>
        </p:nvSpPr>
        <p:spPr>
          <a:xfrm>
            <a:off x="6400800" y="7269480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537960" y="7315200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규칙적인 운동은 </a:t>
            </a:r>
            <a:r>
              <a:rPr sz="22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근육이 포도당을 사용하는 데 도움</a:t>
            </a:r>
            <a:r>
              <a:rPr sz="22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이 됩니다. 환자의 생활에 맞는 강도와 빈도를 함께 정합니다.</a:t>
            </a:r>
          </a:p>
        </p:txBody>
      </p:sp>
      <p:sp>
        <p:nvSpPr>
          <p:cNvPr id="7" name="Cover"/>
          <p:cNvSpPr/>
          <p:nvPr/>
        </p:nvSpPr>
        <p:spPr>
          <a:xfrm>
            <a:off x="6400800" y="9390888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37960" y="9436608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수면이 부족하면 스트레스 호르몬이 늘어 </a:t>
            </a:r>
            <a:r>
              <a:rPr sz="22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관리가 어려워질 수 있습니다.</a:t>
            </a:r>
            <a:r>
              <a:rPr sz="22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 수면 시간과 규칙성을 함께 확인합니다.</a:t>
            </a:r>
          </a:p>
        </p:txBody>
      </p:sp>
      <p:sp>
        <p:nvSpPr>
          <p:cNvPr id="9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부가 질문과 코멘트 · 스트레스 · 운동 · 수면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508760" y="4114800"/>
            <a:ext cx="2157984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581912" y="4160520"/>
            <a:ext cx="213055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앱은 70mg/dL 이하를 저혈당으로 표시하며, 연속혈당측정기 값은 실제 혈당과 차이가 날 수 있어요. 어지럼증 · 식은땀 · 떨림 등 증상이 있으면 자가혈당으로 확인하고, 증상이 반복되면 진료를 받도록 안내합니다.</a:t>
            </a:r>
          </a:p>
        </p:txBody>
      </p:sp>
      <p:sp>
        <p:nvSpPr>
          <p:cNvPr id="5" name="Cover"/>
          <p:cNvSpPr/>
          <p:nvPr/>
        </p:nvSpPr>
        <p:spPr>
          <a:xfrm>
            <a:off x="1508760" y="6053328"/>
            <a:ext cx="2157984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581912" y="6108192"/>
            <a:ext cx="2130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고강도 운동 직후에는 스트레스 호르몬 반응으로 혈당이 일시적으로 오를 수 있어요. 대개 시간이 지나면 돌아오며, 반복되거나 증상이 있으면 상담으로 확인합니다.</a:t>
            </a:r>
          </a:p>
        </p:txBody>
      </p:sp>
      <p:sp>
        <p:nvSpPr>
          <p:cNvPr id="7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5. FAQ</a:t>
            </a:r>
          </a:p>
        </p:txBody>
      </p:sp>
      <p:sp>
        <p:nvSpPr>
          <p:cNvPr id="9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자주 묻는 질문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오늘 세 가지만 정해 주시면 바로 시작할 수 있습니다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도입을 정하시면 첫 스태프 교육부터 교육간호사가 함께 진행합니다.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2696108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5686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도입 결정</a:t>
            </a:r>
          </a:p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상담료 책정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6690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val 7"/>
          <p:cNvSpPr/>
          <p:nvPr/>
        </p:nvSpPr>
        <p:spPr>
          <a:xfrm>
            <a:off x="6339992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9570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Pro 계정</a:t>
            </a:r>
          </a:p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파트너 코드 발급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10574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9983876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3454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리브레 주문</a:t>
            </a:r>
          </a:p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더샵 초기 수량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54458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13627760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37338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스태프 교육</a:t>
            </a:r>
          </a:p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교육간호사 방문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998342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7271644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81222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환자 등록</a:t>
            </a:r>
          </a:p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링크 발송 · 부착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642226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20915528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825106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정기 운영</a:t>
            </a:r>
          </a:p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 센서 · 4주 상담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2806" y="685800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오늘 정해 주실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22806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1834286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상담료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34286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리브레 + 상담 기준</a:t>
            </a:r>
          </a:p>
          <a:p>
            <a:pPr algn="l">
              <a:lnSpc>
                <a:spcPct val="145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12만 ~ 15만원 선에서 책정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41054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9152534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9814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스태프 교육 방문일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2534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데스크 · 간호사 대상</a:t>
            </a:r>
          </a:p>
          <a:p>
            <a:pPr algn="l">
              <a:lnSpc>
                <a:spcPct val="145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Pro 등록 · 센서 부착 시연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059302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Oval 31"/>
          <p:cNvSpPr/>
          <p:nvPr/>
        </p:nvSpPr>
        <p:spPr>
          <a:xfrm>
            <a:off x="16470782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68062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먼저 권유할 환자군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70782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당뇨전단계 / GLP-1 투약 /</a:t>
            </a:r>
          </a:p>
          <a:p>
            <a:pPr algn="l">
              <a:lnSpc>
                <a:spcPct val="145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생활습관 개선군 중 시작점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2806" y="12207240"/>
            <a:ext cx="215432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0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by. 신사업전략 1팀 유영빈</a:t>
            </a:r>
          </a:p>
        </p:txBody>
      </p:sp>
      <p:sp>
        <p:nvSpPr>
          <p:cNvPr id="3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마무리 · 도입 절차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Pretendard"/>
        <a:cs typeface="Pretendard"/>
      </a:majorFont>
      <a:minorFont>
        <a:latin typeface="Pretendard"/>
        <a:ea typeface="Pretendard"/>
        <a:cs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 panose="020F0302020204030204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Pretendard"/>
        <a:font script="Hebr" typeface="Pretendard"/>
        <a:font script="Thai" typeface="Pretendard"/>
        <a:font script="Ethi" typeface="Pretendard"/>
        <a:font script="Beng" typeface="Pretendard"/>
        <a:font script="Gujr" typeface="Pretendard"/>
        <a:font script="Khmr" typeface="Pretendard"/>
        <a:font script="Knda" typeface="Pretendard"/>
        <a:font script="Guru" typeface="Pretendard"/>
        <a:font script="Cans" typeface="Pretendard"/>
        <a:font script="Cher" typeface="Pretendard"/>
        <a:font script="Yiii" typeface="Pretendard"/>
        <a:font script="Tibt" typeface="Pretendard"/>
        <a:font script="Thaa" typeface="Pretendard"/>
        <a:font script="Deva" typeface="Pretendard"/>
        <a:font script="Telu" typeface="Pretendard"/>
        <a:font script="Taml" typeface="Pretendard"/>
        <a:font script="Syrc" typeface="Pretendard"/>
        <a:font script="Orya" typeface="Pretendard"/>
        <a:font script="Mlym" typeface="Pretendard"/>
        <a:font script="Laoo" typeface="Pretendard"/>
        <a:font script="Sinh" typeface="Pretendard"/>
        <a:font script="Mong" typeface="Pretendard"/>
        <a:font script="Viet" typeface="Pretendard"/>
        <a:font script="Uigh" typeface="Pretendard"/>
        <a:font script="Geor" typeface="Pretendard"/>
      </a:majorFont>
      <a:minorFont>
        <a:latin typeface="Pretendard" panose="020F0502020204030204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Pretendard"/>
        <a:font script="Hebr" typeface="Pretendard"/>
        <a:font script="Thai" typeface="Pretendard"/>
        <a:font script="Ethi" typeface="Pretendard"/>
        <a:font script="Beng" typeface="Pretendard"/>
        <a:font script="Gujr" typeface="Pretendard"/>
        <a:font script="Khmr" typeface="Pretendard"/>
        <a:font script="Knda" typeface="Pretendard"/>
        <a:font script="Guru" typeface="Pretendard"/>
        <a:font script="Cans" typeface="Pretendard"/>
        <a:font script="Cher" typeface="Pretendard"/>
        <a:font script="Yiii" typeface="Pretendard"/>
        <a:font script="Tibt" typeface="Pretendard"/>
        <a:font script="Thaa" typeface="Pretendard"/>
        <a:font script="Deva" typeface="Pretendard"/>
        <a:font script="Telu" typeface="Pretendard"/>
        <a:font script="Taml" typeface="Pretendard"/>
        <a:font script="Syrc" typeface="Pretendard"/>
        <a:font script="Orya" typeface="Pretendard"/>
        <a:font script="Mlym" typeface="Pretendard"/>
        <a:font script="Laoo" typeface="Pretendard"/>
        <a:font script="Sinh" typeface="Pretendard"/>
        <a:font script="Mong" typeface="Pretendard"/>
        <a:font script="Viet" typeface="Pretendard"/>
        <a:font script="Uigh" typeface="Pretendard"/>
        <a:font script="Geor"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7770</TotalTime>
  <Words>1076</Words>
  <Application>Microsoft Office PowerPoint</Application>
  <PresentationFormat>사용자 지정</PresentationFormat>
  <Paragraphs>215</Paragraphs>
  <Slides>40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4" baseType="lpstr">
      <vt:lpstr>Arimo</vt:lpstr>
      <vt:lpstr>Noto Sans KR</vt:lpstr>
      <vt:lpstr>맑은 고딕</vt:lpstr>
      <vt:lpstr>Office</vt:lpstr>
      <vt:lpstr>PowerPoint 프레젠테이션</vt:lpstr>
      <vt:lpstr>PowerPoint 프레젠테이션</vt:lpstr>
      <vt:lpstr>PowerPoint 프레젠테이션</vt:lpstr>
      <vt:lpstr>비만주사 치료, 처방만으로 충분할까요?</vt:lpstr>
      <vt:lpstr>웰다 프로그램</vt:lpstr>
      <vt:lpstr>혈당 데이터로 습관을 바꾸고, 그 습관을 유지하도록 돕습니다</vt:lpstr>
      <vt:lpstr>PowerPoint 프레젠테이션</vt:lpstr>
      <vt:lpstr>외래에서 이런 환자에게 권해 주세요</vt:lpstr>
      <vt:lpstr>환자득 · 병원득</vt:lpstr>
      <vt:lpstr>웰다는 무료로 도입하고, 추가 연속혈당측정기 활용 시 추가 수익 기회를 확보합니다</vt:lpstr>
      <vt:lpstr>PowerPoint 프레젠테이션</vt:lpstr>
      <vt:lpstr>PowerPoint 프레젠테이션</vt:lpstr>
      <vt:lpstr>환자는 2주마다 센서 교체, 4주마다 상담으로 내원합니다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재방문 상담은 기록 → 혈당 지표 → 식사 순서로 봅니다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오늘 세 가지만 정해 주시면 바로 시작할 수 있습니다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Yeongbin Yu</cp:lastModifiedBy>
  <cp:revision>40</cp:revision>
  <cp:lastPrinted>2026-10-12T05:15:09Z</cp:lastPrinted>
  <dcterms:modified xsi:type="dcterms:W3CDTF">2026-10-13T10:48:05Z</dcterms:modified>
</cp:coreProperties>
</file>